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Body Grotesque Fit" panose="020B0604020202020204" charset="0"/>
      <p:regular r:id="rId24"/>
    </p:embeddedFont>
    <p:embeddedFont>
      <p:font typeface="Body Grotesque Fit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378"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Tomando como ejemplo el ciclo de vida en cascada, estamos en la última instancia previa a la codificación.</a:t>
            </a:r>
          </a:p>
          <a:p>
            <a:endParaRPr lang="en-US"/>
          </a:p>
          <a:p>
            <a:r>
              <a:rPr lang="en-US"/>
              <a:t>En este punto ya realizamos un análisis exhaustivo del negocio, ya conocemos sus procesos, la identidad de su marca si es que la tienen y como fluyen los datos necesarios para informatizarlo.</a:t>
            </a:r>
          </a:p>
          <a:p>
            <a:endParaRPr lang="en-US"/>
          </a:p>
          <a:p>
            <a:r>
              <a:rPr lang="en-US"/>
              <a:t>Sin embargo, toda la información que tenemos hasta ahora no nos sirve como sustento visual para el cliente, en este punto todavía no sabe como se vería el sistema que estamos queriendo entregarle. Por lo tanto, necesitamos empezar a utilizar ciertas herramientas para hacer esto.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Todas las herramientas que vimos hasta el momento son usadas para diagramar el negocio a nivel de procesos y de datos, pero son herramientas más internas para el analista, no son herramientas creadas para que el cliente pueda entenderlas, en este punto no nos comunicamos en el mismo idioma. Salvo casos excepcionales como clientes tecnológicos.</a:t>
            </a:r>
          </a:p>
          <a:p>
            <a:endParaRPr lang="en-US"/>
          </a:p>
          <a:p>
            <a:r>
              <a:rPr lang="en-US"/>
              <a:t>Tenemos que proponerle al cliente alguna forma para mostrarle visualmente lo que queremos hacer.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Acá es cuando entra el concepto de Diseño de Interfaces.</a:t>
            </a:r>
          </a:p>
          <a:p>
            <a:endParaRPr lang="en-US"/>
          </a:p>
          <a:p>
            <a:r>
              <a:rPr lang="en-US"/>
              <a:t>Es el proceso por el cual tomamos toda la información del negocio, los requerimientos, y el diseño de los datos para representarlo mediante pantallas, navegación y elementos visuales e interactivos.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interfaz de usuario es todo lo que va a ver el cliente al utilizar el sistema. Es el principal medio visual de nuestro sistema a modelar, ya que todo entra por los ojos.</a:t>
            </a:r>
          </a:p>
          <a:p>
            <a:endParaRPr lang="en-US"/>
          </a:p>
          <a:p>
            <a:r>
              <a:rPr lang="en-US"/>
              <a:t>Colores, tipografía e iconografía son muy importantes para que el cliente se sienta identificado con el diseño, ya que todo esto irá muy de la mano con el espíritu de la marca de nuestro cliente.</a:t>
            </a:r>
          </a:p>
          <a:p>
            <a:endParaRPr lang="en-US"/>
          </a:p>
          <a:p>
            <a:r>
              <a:rPr lang="en-US"/>
              <a:t>El espaciado, sistema de cajas y, grillas, ayudan a darle estructura y orden a la página, ya que todos los elementos que vamos a modelar siguen un modelo de cajas (CSS).</a:t>
            </a:r>
          </a:p>
          <a:p>
            <a:endParaRPr lang="en-US"/>
          </a:p>
          <a:p>
            <a:r>
              <a:rPr lang="en-US"/>
              <a:t>Composición Visual</a:t>
            </a:r>
          </a:p>
          <a:p>
            <a:r>
              <a:rPr lang="en-US"/>
              <a:t>Es la manera en que se distribuyen y relacionan los elementos gráficos (como formas, colores, líneas y espacios) dentro de un formato. Su objetivo principal es aportar orden, equilibrio y sentido estético o funcional al diseño</a:t>
            </a:r>
          </a:p>
          <a:p>
            <a:endParaRPr lang="en-US"/>
          </a:p>
          <a:p>
            <a:r>
              <a:rPr lang="en-US"/>
              <a:t>Jerarquía visual</a:t>
            </a:r>
          </a:p>
          <a:p>
            <a:r>
              <a:rPr lang="en-US"/>
              <a:t>Es la arquitectura invisible del diseño que establece un orden de importancia. Indica al ojo humano qué debe mirar primero, qué después y qué al final, evitando la saturación y la confusión cognitiva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experiencia de usuario está sujeto muy subconsciente del cliente, y a cosas un poco más subjetivas que lo que se puede ver con los ojos.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experiencia delimita si el cliente se queda o no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Sistemas II vamos a usar Figma para hacer visibles las decisiones de diseño y conversarlas antes de implementar el sistema.</a:t>
            </a:r>
          </a:p>
          <a:p>
            <a:endParaRPr lang="en-US"/>
          </a:p>
          <a:p>
            <a:r>
              <a:rPr lang="en-US"/>
              <a:t>Tiene una comunidad inmensa, y todo el tiempo están sacando cosas nuevas.</a:t>
            </a:r>
          </a:p>
          <a:p>
            <a:endParaRPr lang="en-US"/>
          </a:p>
          <a:p>
            <a:r>
              <a:rPr lang="en-US"/>
              <a:t>Es una herramienta que fomenta la colaboración entre equipos, permitiendo que diseñadores, desarrolladores y demás interesados trabajen juntos en tiempo real. Esto no solo mejora la comunicación, sino que también acelera el proceso de diseño al recibir feedback instantáneo. Además, Figma ofrece una amplia gama de plugins y recursos que facilitan la creación de prototipos interactivos, lo que nos ayuda a visualizar mejor cómo funcionará el sistema antes de pasar a la fase de codificación.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Sistemas II vamos a usar Figma para hacer visibles las decisiones de diseño y conversarlas antes de implementar el sistema.</a:t>
            </a:r>
          </a:p>
          <a:p>
            <a:endParaRPr lang="en-US"/>
          </a:p>
          <a:p>
            <a:r>
              <a:rPr lang="en-US"/>
              <a:t>Es una herramienta poderosa que nos permitirá colaborar de manera eficiente y asegurarnos de que todos los miembros del equipo estén alineados en cuanto a la visión final del proyecto. Con Figma, podremos crear prototipos interactivos, recibir retroalimentación en tiempo real y realizar ajustes necesarios antes de pasar a la fase de desarrollo. Esto no solo ahorra tiempo, sino que también mejora la calidad del producto final al garantizar que todas las decisiones de diseño sean bien fundamentadas y discutidas.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Sistemas II vamos a usar Figma para hacer visibles las decisiones de diseño y conversarlas antes de implementar el sistema.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Sistemas II vamos a usar Figma para hacer visibles las decisiones de diseño y conversarlas antes de implementar el sistema.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F2FF"/>
        </a:solidFill>
        <a:effectLst/>
      </p:bgPr>
    </p:bg>
    <p:spTree>
      <p:nvGrpSpPr>
        <p:cNvPr id="1" name=""/>
        <p:cNvGrpSpPr/>
        <p:nvPr/>
      </p:nvGrpSpPr>
      <p:grpSpPr>
        <a:xfrm>
          <a:off x="0" y="0"/>
          <a:ext cx="0" cy="0"/>
          <a:chOff x="0" y="0"/>
          <a:chExt cx="0" cy="0"/>
        </a:xfrm>
      </p:grpSpPr>
      <p:sp>
        <p:nvSpPr>
          <p:cNvPr id="2" name="Freeform 2"/>
          <p:cNvSpPr/>
          <p:nvPr/>
        </p:nvSpPr>
        <p:spPr>
          <a:xfrm flipH="1">
            <a:off x="7624898" y="0"/>
            <a:ext cx="10230889" cy="10287000"/>
          </a:xfrm>
          <a:custGeom>
            <a:avLst/>
            <a:gdLst/>
            <a:ahLst/>
            <a:cxnLst/>
            <a:rect l="l" t="t" r="r" b="b"/>
            <a:pathLst>
              <a:path w="10230889" h="10287000">
                <a:moveTo>
                  <a:pt x="10230889" y="0"/>
                </a:moveTo>
                <a:lnTo>
                  <a:pt x="0" y="0"/>
                </a:lnTo>
                <a:lnTo>
                  <a:pt x="0" y="10287000"/>
                </a:lnTo>
                <a:lnTo>
                  <a:pt x="10230889" y="10287000"/>
                </a:lnTo>
                <a:lnTo>
                  <a:pt x="10230889"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982193" y="7675229"/>
            <a:ext cx="1873594" cy="2094498"/>
          </a:xfrm>
          <a:custGeom>
            <a:avLst/>
            <a:gdLst/>
            <a:ahLst/>
            <a:cxnLst/>
            <a:rect l="l" t="t" r="r" b="b"/>
            <a:pathLst>
              <a:path w="1873594" h="2094498">
                <a:moveTo>
                  <a:pt x="0" y="0"/>
                </a:moveTo>
                <a:lnTo>
                  <a:pt x="1873594" y="0"/>
                </a:lnTo>
                <a:lnTo>
                  <a:pt x="1873594" y="2094498"/>
                </a:lnTo>
                <a:lnTo>
                  <a:pt x="0" y="2094498"/>
                </a:lnTo>
                <a:lnTo>
                  <a:pt x="0" y="0"/>
                </a:lnTo>
                <a:close/>
              </a:path>
            </a:pathLst>
          </a:custGeom>
          <a:blipFill>
            <a:blip r:embed="rId3"/>
            <a:stretch>
              <a:fillRect/>
            </a:stretch>
          </a:blipFill>
        </p:spPr>
      </p:sp>
      <p:sp>
        <p:nvSpPr>
          <p:cNvPr id="4" name="TextBox 4"/>
          <p:cNvSpPr txBox="1"/>
          <p:nvPr/>
        </p:nvSpPr>
        <p:spPr>
          <a:xfrm>
            <a:off x="2303018" y="2216711"/>
            <a:ext cx="13681964" cy="4370211"/>
          </a:xfrm>
          <a:prstGeom prst="rect">
            <a:avLst/>
          </a:prstGeom>
        </p:spPr>
        <p:txBody>
          <a:bodyPr lIns="0" tIns="0" rIns="0" bIns="0" rtlCol="0" anchor="t">
            <a:spAutoFit/>
          </a:bodyPr>
          <a:lstStyle/>
          <a:p>
            <a:pPr algn="ctr">
              <a:lnSpc>
                <a:spcPts val="11647"/>
              </a:lnSpc>
            </a:pPr>
            <a:r>
              <a:rPr lang="en-US" sz="8319" b="1">
                <a:solidFill>
                  <a:srgbClr val="6B7280"/>
                </a:solidFill>
                <a:latin typeface="Body Grotesque Fit Bold"/>
                <a:ea typeface="Body Grotesque Fit Bold"/>
                <a:cs typeface="Body Grotesque Fit Bold"/>
                <a:sym typeface="Body Grotesque Fit Bold"/>
              </a:rPr>
              <a:t>CLASE I: DEL REQUERIMIENTO A LA INTERFAZ</a:t>
            </a:r>
          </a:p>
        </p:txBody>
      </p:sp>
      <p:sp>
        <p:nvSpPr>
          <p:cNvPr id="5" name="TextBox 5"/>
          <p:cNvSpPr txBox="1"/>
          <p:nvPr/>
        </p:nvSpPr>
        <p:spPr>
          <a:xfrm>
            <a:off x="5547657" y="7926578"/>
            <a:ext cx="7192685" cy="795900"/>
          </a:xfrm>
          <a:prstGeom prst="rect">
            <a:avLst/>
          </a:prstGeom>
        </p:spPr>
        <p:txBody>
          <a:bodyPr lIns="0" tIns="0" rIns="0" bIns="0" rtlCol="0" anchor="t">
            <a:spAutoFit/>
          </a:bodyPr>
          <a:lstStyle/>
          <a:p>
            <a:pPr algn="ctr">
              <a:lnSpc>
                <a:spcPts val="6531"/>
              </a:lnSpc>
            </a:pPr>
            <a:r>
              <a:rPr lang="en-US" sz="4665">
                <a:solidFill>
                  <a:srgbClr val="1E3A8A"/>
                </a:solidFill>
                <a:latin typeface="Body Grotesque Fit"/>
                <a:ea typeface="Body Grotesque Fit"/>
                <a:cs typeface="Body Grotesque Fit"/>
                <a:sym typeface="Body Grotesque Fit"/>
              </a:rPr>
              <a:t>UCASAL - Sistemas II</a:t>
            </a:r>
          </a:p>
        </p:txBody>
      </p:sp>
      <p:sp>
        <p:nvSpPr>
          <p:cNvPr id="6" name="TextBox 6"/>
          <p:cNvSpPr txBox="1"/>
          <p:nvPr/>
        </p:nvSpPr>
        <p:spPr>
          <a:xfrm>
            <a:off x="2901144" y="9022910"/>
            <a:ext cx="12665138" cy="423154"/>
          </a:xfrm>
          <a:prstGeom prst="rect">
            <a:avLst/>
          </a:prstGeom>
        </p:spPr>
        <p:txBody>
          <a:bodyPr lIns="0" tIns="0" rIns="0" bIns="0" rtlCol="0" anchor="t">
            <a:spAutoFit/>
          </a:bodyPr>
          <a:lstStyle/>
          <a:p>
            <a:pPr algn="ctr">
              <a:lnSpc>
                <a:spcPts val="3451"/>
              </a:lnSpc>
            </a:pPr>
            <a:r>
              <a:rPr lang="en-US" sz="2465">
                <a:solidFill>
                  <a:srgbClr val="1E3A8A"/>
                </a:solidFill>
                <a:latin typeface="Body Grotesque Fit"/>
                <a:ea typeface="Body Grotesque Fit"/>
                <a:cs typeface="Body Grotesque Fit"/>
                <a:sym typeface="Body Grotesque Fit"/>
              </a:rPr>
              <a:t>Lic. José Peralta, Lic. Patricia Aballay, Ing. Francisco Jarma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6714961" cy="1128383"/>
            <a:chOff x="0" y="0"/>
            <a:chExt cx="4402294" cy="297187"/>
          </a:xfrm>
        </p:grpSpPr>
        <p:sp>
          <p:nvSpPr>
            <p:cNvPr id="3" name="Freeform 3"/>
            <p:cNvSpPr/>
            <p:nvPr/>
          </p:nvSpPr>
          <p:spPr>
            <a:xfrm>
              <a:off x="0" y="0"/>
              <a:ext cx="4402294" cy="297187"/>
            </a:xfrm>
            <a:custGeom>
              <a:avLst/>
              <a:gdLst/>
              <a:ahLst/>
              <a:cxnLst/>
              <a:rect l="l" t="t" r="r" b="b"/>
              <a:pathLst>
                <a:path w="4402294" h="297187">
                  <a:moveTo>
                    <a:pt x="46317" y="0"/>
                  </a:moveTo>
                  <a:lnTo>
                    <a:pt x="4355977" y="0"/>
                  </a:lnTo>
                  <a:cubicBezTo>
                    <a:pt x="4381557" y="0"/>
                    <a:pt x="4402294" y="20737"/>
                    <a:pt x="4402294" y="46317"/>
                  </a:cubicBezTo>
                  <a:lnTo>
                    <a:pt x="4402294" y="250870"/>
                  </a:lnTo>
                  <a:cubicBezTo>
                    <a:pt x="4402294" y="276450"/>
                    <a:pt x="4381557" y="297187"/>
                    <a:pt x="4355977" y="297187"/>
                  </a:cubicBezTo>
                  <a:lnTo>
                    <a:pt x="46317" y="297187"/>
                  </a:lnTo>
                  <a:cubicBezTo>
                    <a:pt x="20737" y="297187"/>
                    <a:pt x="0" y="276450"/>
                    <a:pt x="0" y="250870"/>
                  </a:cubicBezTo>
                  <a:lnTo>
                    <a:pt x="0" y="46317"/>
                  </a:lnTo>
                  <a:cubicBezTo>
                    <a:pt x="0" y="20737"/>
                    <a:pt x="20737" y="0"/>
                    <a:pt x="46317" y="0"/>
                  </a:cubicBezTo>
                  <a:close/>
                </a:path>
              </a:pathLst>
            </a:custGeom>
            <a:solidFill>
              <a:srgbClr val="EAF2FF"/>
            </a:solidFill>
          </p:spPr>
        </p:sp>
        <p:sp>
          <p:nvSpPr>
            <p:cNvPr id="4" name="TextBox 4"/>
            <p:cNvSpPr txBox="1"/>
            <p:nvPr/>
          </p:nvSpPr>
          <p:spPr>
            <a:xfrm>
              <a:off x="0" y="-57150"/>
              <a:ext cx="4402294" cy="354337"/>
            </a:xfrm>
            <a:prstGeom prst="rect">
              <a:avLst/>
            </a:prstGeom>
          </p:spPr>
          <p:txBody>
            <a:bodyPr lIns="50800" tIns="50800" rIns="50800" bIns="50800" rtlCol="0" anchor="ctr"/>
            <a:lstStyle/>
            <a:p>
              <a:pPr algn="ctr">
                <a:lnSpc>
                  <a:spcPts val="3584"/>
                </a:lnSpc>
              </a:pPr>
              <a:endParaRPr/>
            </a:p>
          </p:txBody>
        </p:sp>
      </p:grpSp>
      <p:sp>
        <p:nvSpPr>
          <p:cNvPr id="5" name="TextBox 5"/>
          <p:cNvSpPr txBox="1"/>
          <p:nvPr/>
        </p:nvSpPr>
        <p:spPr>
          <a:xfrm>
            <a:off x="8705878" y="3641093"/>
            <a:ext cx="9333191" cy="4781543"/>
          </a:xfrm>
          <a:prstGeom prst="rect">
            <a:avLst/>
          </a:prstGeom>
        </p:spPr>
        <p:txBody>
          <a:bodyPr lIns="0" tIns="0" rIns="0" bIns="0" rtlCol="0" anchor="t">
            <a:spAutoFit/>
          </a:bodyPr>
          <a:lstStyle/>
          <a:p>
            <a:pPr marL="734157" lvl="1" indent="-367079" algn="just">
              <a:lnSpc>
                <a:spcPts val="4760"/>
              </a:lnSpc>
              <a:buFont typeface="Arial"/>
              <a:buChar char="•"/>
            </a:pPr>
            <a:r>
              <a:rPr lang="en-US" sz="3400">
                <a:solidFill>
                  <a:srgbClr val="6B7280"/>
                </a:solidFill>
                <a:latin typeface="Body Grotesque Fit"/>
                <a:ea typeface="Body Grotesque Fit"/>
                <a:cs typeface="Body Grotesque Fit"/>
                <a:sym typeface="Body Grotesque Fit"/>
              </a:rPr>
              <a:t>Casi último paso previo a la codificación.</a:t>
            </a:r>
          </a:p>
          <a:p>
            <a:pPr marL="734157" lvl="1" indent="-367079" algn="just">
              <a:lnSpc>
                <a:spcPts val="4760"/>
              </a:lnSpc>
              <a:buFont typeface="Arial"/>
              <a:buChar char="•"/>
            </a:pPr>
            <a:r>
              <a:rPr lang="en-US" sz="3400">
                <a:solidFill>
                  <a:srgbClr val="6B7280"/>
                </a:solidFill>
                <a:latin typeface="Body Grotesque Fit"/>
                <a:ea typeface="Body Grotesque Fit"/>
                <a:cs typeface="Body Grotesque Fit"/>
                <a:sym typeface="Body Grotesque Fit"/>
              </a:rPr>
              <a:t>El análisis de requerimientos permite comprender el contexto del negocio.</a:t>
            </a:r>
          </a:p>
          <a:p>
            <a:pPr marL="734157" lvl="1" indent="-367079" algn="just">
              <a:lnSpc>
                <a:spcPts val="4760"/>
              </a:lnSpc>
              <a:buFont typeface="Arial"/>
              <a:buChar char="•"/>
            </a:pPr>
            <a:r>
              <a:rPr lang="en-US" sz="3400">
                <a:solidFill>
                  <a:srgbClr val="6B7280"/>
                </a:solidFill>
                <a:latin typeface="Body Grotesque Fit"/>
                <a:ea typeface="Body Grotesque Fit"/>
                <a:cs typeface="Body Grotesque Fit"/>
                <a:sym typeface="Body Grotesque Fit"/>
              </a:rPr>
              <a:t>El diseño de datos nos permite ver qué datos necesitará nuestro sistema y como van a fluir.</a:t>
            </a:r>
          </a:p>
          <a:p>
            <a:pPr marL="734157" lvl="1" indent="-367079" algn="just">
              <a:lnSpc>
                <a:spcPts val="4760"/>
              </a:lnSpc>
              <a:buFont typeface="Arial"/>
              <a:buChar char="•"/>
            </a:pPr>
            <a:r>
              <a:rPr lang="en-US" sz="3400">
                <a:solidFill>
                  <a:srgbClr val="6B7280"/>
                </a:solidFill>
                <a:latin typeface="Body Grotesque Fit"/>
                <a:ea typeface="Body Grotesque Fit"/>
                <a:cs typeface="Body Grotesque Fit"/>
                <a:sym typeface="Body Grotesque Fit"/>
              </a:rPr>
              <a:t>No tenemos una herramienta visual para el cliente.</a:t>
            </a:r>
          </a:p>
        </p:txBody>
      </p:sp>
      <p:sp>
        <p:nvSpPr>
          <p:cNvPr id="6" name="TextBox 6"/>
          <p:cNvSpPr txBox="1"/>
          <p:nvPr/>
        </p:nvSpPr>
        <p:spPr>
          <a:xfrm>
            <a:off x="930128" y="1582321"/>
            <a:ext cx="1694587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INTRODUCCIÓN - ¿EN QUÉ PUNTO ESTAMOS?</a:t>
            </a:r>
          </a:p>
        </p:txBody>
      </p:sp>
      <p:grpSp>
        <p:nvGrpSpPr>
          <p:cNvPr id="7" name="Group 7"/>
          <p:cNvGrpSpPr/>
          <p:nvPr/>
        </p:nvGrpSpPr>
        <p:grpSpPr>
          <a:xfrm>
            <a:off x="718212" y="3786151"/>
            <a:ext cx="8422879" cy="4558103"/>
            <a:chOff x="0" y="0"/>
            <a:chExt cx="11230505" cy="6077471"/>
          </a:xfrm>
        </p:grpSpPr>
        <p:sp>
          <p:nvSpPr>
            <p:cNvPr id="8" name="Freeform 8"/>
            <p:cNvSpPr/>
            <p:nvPr/>
          </p:nvSpPr>
          <p:spPr>
            <a:xfrm>
              <a:off x="0" y="0"/>
              <a:ext cx="10367667" cy="6077471"/>
            </a:xfrm>
            <a:custGeom>
              <a:avLst/>
              <a:gdLst/>
              <a:ahLst/>
              <a:cxnLst/>
              <a:rect l="l" t="t" r="r" b="b"/>
              <a:pathLst>
                <a:path w="10367667" h="6077471">
                  <a:moveTo>
                    <a:pt x="0" y="0"/>
                  </a:moveTo>
                  <a:lnTo>
                    <a:pt x="10367667" y="0"/>
                  </a:lnTo>
                  <a:lnTo>
                    <a:pt x="10367667" y="6077471"/>
                  </a:lnTo>
                  <a:lnTo>
                    <a:pt x="0" y="6077471"/>
                  </a:lnTo>
                  <a:lnTo>
                    <a:pt x="0" y="0"/>
                  </a:lnTo>
                  <a:close/>
                </a:path>
              </a:pathLst>
            </a:custGeom>
            <a:blipFill>
              <a:blip r:embed="rId3"/>
              <a:stretch>
                <a:fillRect b="-13870"/>
              </a:stretch>
            </a:blipFill>
          </p:spPr>
        </p:sp>
        <p:sp>
          <p:nvSpPr>
            <p:cNvPr id="9" name="AutoShape 9"/>
            <p:cNvSpPr/>
            <p:nvPr/>
          </p:nvSpPr>
          <p:spPr>
            <a:xfrm flipH="1">
              <a:off x="4801541" y="254452"/>
              <a:ext cx="6361741" cy="2514505"/>
            </a:xfrm>
            <a:prstGeom prst="line">
              <a:avLst/>
            </a:prstGeom>
            <a:ln w="50800" cap="flat">
              <a:solidFill>
                <a:srgbClr val="DC1724"/>
              </a:solidFill>
              <a:prstDash val="solid"/>
              <a:headEnd type="none" w="sm" len="sm"/>
              <a:tailEnd type="triangle" w="lg" len="med"/>
            </a:ln>
          </p:spPr>
        </p:sp>
        <p:grpSp>
          <p:nvGrpSpPr>
            <p:cNvPr id="10" name="Group 10"/>
            <p:cNvGrpSpPr/>
            <p:nvPr/>
          </p:nvGrpSpPr>
          <p:grpSpPr>
            <a:xfrm>
              <a:off x="0" y="1158106"/>
              <a:ext cx="3167618" cy="781791"/>
              <a:chOff x="0" y="0"/>
              <a:chExt cx="625702" cy="154428"/>
            </a:xfrm>
          </p:grpSpPr>
          <p:sp>
            <p:nvSpPr>
              <p:cNvPr id="11" name="Freeform 11"/>
              <p:cNvSpPr/>
              <p:nvPr/>
            </p:nvSpPr>
            <p:spPr>
              <a:xfrm>
                <a:off x="0" y="0"/>
                <a:ext cx="625702" cy="154428"/>
              </a:xfrm>
              <a:custGeom>
                <a:avLst/>
                <a:gdLst/>
                <a:ahLst/>
                <a:cxnLst/>
                <a:rect l="l" t="t" r="r" b="b"/>
                <a:pathLst>
                  <a:path w="625702" h="154428">
                    <a:moveTo>
                      <a:pt x="0" y="0"/>
                    </a:moveTo>
                    <a:lnTo>
                      <a:pt x="625702" y="0"/>
                    </a:lnTo>
                    <a:lnTo>
                      <a:pt x="625702" y="154428"/>
                    </a:lnTo>
                    <a:lnTo>
                      <a:pt x="0" y="154428"/>
                    </a:lnTo>
                    <a:close/>
                  </a:path>
                </a:pathLst>
              </a:custGeom>
              <a:solidFill>
                <a:srgbClr val="042F3E"/>
              </a:solidFill>
            </p:spPr>
          </p:sp>
          <p:sp>
            <p:nvSpPr>
              <p:cNvPr id="12" name="TextBox 12"/>
              <p:cNvSpPr txBox="1"/>
              <p:nvPr/>
            </p:nvSpPr>
            <p:spPr>
              <a:xfrm>
                <a:off x="0" y="-47625"/>
                <a:ext cx="625702" cy="202053"/>
              </a:xfrm>
              <a:prstGeom prst="rect">
                <a:avLst/>
              </a:prstGeom>
            </p:spPr>
            <p:txBody>
              <a:bodyPr lIns="50800" tIns="50800" rIns="50800" bIns="50800" rtlCol="0" anchor="ctr"/>
              <a:lstStyle/>
              <a:p>
                <a:pPr algn="ctr">
                  <a:lnSpc>
                    <a:spcPts val="2800"/>
                  </a:lnSpc>
                </a:pPr>
                <a:r>
                  <a:rPr lang="en-US" sz="2000">
                    <a:solidFill>
                      <a:srgbClr val="FFFFFF"/>
                    </a:solidFill>
                    <a:latin typeface="Body Grotesque Fit"/>
                    <a:ea typeface="Body Grotesque Fit"/>
                    <a:cs typeface="Body Grotesque Fit"/>
                    <a:sym typeface="Body Grotesque Fit"/>
                  </a:rPr>
                  <a:t>Análisis</a:t>
                </a:r>
              </a:p>
            </p:txBody>
          </p:sp>
        </p:grpSp>
        <p:grpSp>
          <p:nvGrpSpPr>
            <p:cNvPr id="13" name="Group 13"/>
            <p:cNvGrpSpPr/>
            <p:nvPr/>
          </p:nvGrpSpPr>
          <p:grpSpPr>
            <a:xfrm>
              <a:off x="131430" y="2155797"/>
              <a:ext cx="4465644" cy="781791"/>
              <a:chOff x="0" y="0"/>
              <a:chExt cx="882102" cy="154428"/>
            </a:xfrm>
          </p:grpSpPr>
          <p:sp>
            <p:nvSpPr>
              <p:cNvPr id="14" name="Freeform 14"/>
              <p:cNvSpPr/>
              <p:nvPr/>
            </p:nvSpPr>
            <p:spPr>
              <a:xfrm>
                <a:off x="0" y="0"/>
                <a:ext cx="882102" cy="154428"/>
              </a:xfrm>
              <a:custGeom>
                <a:avLst/>
                <a:gdLst/>
                <a:ahLst/>
                <a:cxnLst/>
                <a:rect l="l" t="t" r="r" b="b"/>
                <a:pathLst>
                  <a:path w="882102" h="154428">
                    <a:moveTo>
                      <a:pt x="0" y="0"/>
                    </a:moveTo>
                    <a:lnTo>
                      <a:pt x="882102" y="0"/>
                    </a:lnTo>
                    <a:lnTo>
                      <a:pt x="882102" y="154428"/>
                    </a:lnTo>
                    <a:lnTo>
                      <a:pt x="0" y="154428"/>
                    </a:lnTo>
                    <a:close/>
                  </a:path>
                </a:pathLst>
              </a:custGeom>
              <a:solidFill>
                <a:srgbClr val="0A465B"/>
              </a:solidFill>
            </p:spPr>
          </p:sp>
          <p:sp>
            <p:nvSpPr>
              <p:cNvPr id="15" name="TextBox 15"/>
              <p:cNvSpPr txBox="1"/>
              <p:nvPr/>
            </p:nvSpPr>
            <p:spPr>
              <a:xfrm>
                <a:off x="0" y="-47625"/>
                <a:ext cx="882102" cy="202053"/>
              </a:xfrm>
              <a:prstGeom prst="rect">
                <a:avLst/>
              </a:prstGeom>
            </p:spPr>
            <p:txBody>
              <a:bodyPr lIns="50800" tIns="50800" rIns="50800" bIns="50800" rtlCol="0" anchor="ctr"/>
              <a:lstStyle/>
              <a:p>
                <a:pPr algn="ctr">
                  <a:lnSpc>
                    <a:spcPts val="2800"/>
                  </a:lnSpc>
                </a:pPr>
                <a:r>
                  <a:rPr lang="en-US" sz="2000">
                    <a:solidFill>
                      <a:srgbClr val="FFFFFF"/>
                    </a:solidFill>
                    <a:latin typeface="Body Grotesque Fit"/>
                    <a:ea typeface="Body Grotesque Fit"/>
                    <a:cs typeface="Body Grotesque Fit"/>
                    <a:sym typeface="Body Grotesque Fit"/>
                  </a:rPr>
                  <a:t>Diseño</a:t>
                </a:r>
              </a:p>
            </p:txBody>
          </p:sp>
        </p:grpSp>
        <p:grpSp>
          <p:nvGrpSpPr>
            <p:cNvPr id="16" name="Group 16"/>
            <p:cNvGrpSpPr/>
            <p:nvPr/>
          </p:nvGrpSpPr>
          <p:grpSpPr>
            <a:xfrm>
              <a:off x="1133099" y="3151981"/>
              <a:ext cx="4818905" cy="781791"/>
              <a:chOff x="0" y="0"/>
              <a:chExt cx="951883" cy="154428"/>
            </a:xfrm>
          </p:grpSpPr>
          <p:sp>
            <p:nvSpPr>
              <p:cNvPr id="17" name="Freeform 17"/>
              <p:cNvSpPr/>
              <p:nvPr/>
            </p:nvSpPr>
            <p:spPr>
              <a:xfrm>
                <a:off x="0" y="0"/>
                <a:ext cx="951882" cy="154428"/>
              </a:xfrm>
              <a:custGeom>
                <a:avLst/>
                <a:gdLst/>
                <a:ahLst/>
                <a:cxnLst/>
                <a:rect l="l" t="t" r="r" b="b"/>
                <a:pathLst>
                  <a:path w="951882" h="154428">
                    <a:moveTo>
                      <a:pt x="0" y="0"/>
                    </a:moveTo>
                    <a:lnTo>
                      <a:pt x="951882" y="0"/>
                    </a:lnTo>
                    <a:lnTo>
                      <a:pt x="951882" y="154428"/>
                    </a:lnTo>
                    <a:lnTo>
                      <a:pt x="0" y="154428"/>
                    </a:lnTo>
                    <a:close/>
                  </a:path>
                </a:pathLst>
              </a:custGeom>
              <a:solidFill>
                <a:srgbClr val="035C79"/>
              </a:solidFill>
            </p:spPr>
          </p:sp>
          <p:sp>
            <p:nvSpPr>
              <p:cNvPr id="18" name="TextBox 18"/>
              <p:cNvSpPr txBox="1"/>
              <p:nvPr/>
            </p:nvSpPr>
            <p:spPr>
              <a:xfrm>
                <a:off x="0" y="-47625"/>
                <a:ext cx="951883" cy="202053"/>
              </a:xfrm>
              <a:prstGeom prst="rect">
                <a:avLst/>
              </a:prstGeom>
            </p:spPr>
            <p:txBody>
              <a:bodyPr lIns="50800" tIns="50800" rIns="50800" bIns="50800" rtlCol="0" anchor="ctr"/>
              <a:lstStyle/>
              <a:p>
                <a:pPr algn="ctr">
                  <a:lnSpc>
                    <a:spcPts val="2800"/>
                  </a:lnSpc>
                </a:pPr>
                <a:r>
                  <a:rPr lang="en-US" sz="2000">
                    <a:solidFill>
                      <a:srgbClr val="FFFFFF"/>
                    </a:solidFill>
                    <a:latin typeface="Body Grotesque Fit"/>
                    <a:ea typeface="Body Grotesque Fit"/>
                    <a:cs typeface="Body Grotesque Fit"/>
                    <a:sym typeface="Body Grotesque Fit"/>
                  </a:rPr>
                  <a:t>Codificación</a:t>
                </a:r>
              </a:p>
            </p:txBody>
          </p:sp>
        </p:grpSp>
        <p:grpSp>
          <p:nvGrpSpPr>
            <p:cNvPr id="19" name="Group 19"/>
            <p:cNvGrpSpPr/>
            <p:nvPr/>
          </p:nvGrpSpPr>
          <p:grpSpPr>
            <a:xfrm>
              <a:off x="2364252" y="4149672"/>
              <a:ext cx="4655309" cy="781791"/>
              <a:chOff x="0" y="0"/>
              <a:chExt cx="919567" cy="154428"/>
            </a:xfrm>
          </p:grpSpPr>
          <p:sp>
            <p:nvSpPr>
              <p:cNvPr id="20" name="Freeform 20"/>
              <p:cNvSpPr/>
              <p:nvPr/>
            </p:nvSpPr>
            <p:spPr>
              <a:xfrm>
                <a:off x="0" y="0"/>
                <a:ext cx="919567" cy="154428"/>
              </a:xfrm>
              <a:custGeom>
                <a:avLst/>
                <a:gdLst/>
                <a:ahLst/>
                <a:cxnLst/>
                <a:rect l="l" t="t" r="r" b="b"/>
                <a:pathLst>
                  <a:path w="919567" h="154428">
                    <a:moveTo>
                      <a:pt x="0" y="0"/>
                    </a:moveTo>
                    <a:lnTo>
                      <a:pt x="919567" y="0"/>
                    </a:lnTo>
                    <a:lnTo>
                      <a:pt x="919567" y="154428"/>
                    </a:lnTo>
                    <a:lnTo>
                      <a:pt x="0" y="154428"/>
                    </a:lnTo>
                    <a:close/>
                  </a:path>
                </a:pathLst>
              </a:custGeom>
              <a:solidFill>
                <a:srgbClr val="016B90"/>
              </a:solidFill>
            </p:spPr>
          </p:sp>
          <p:sp>
            <p:nvSpPr>
              <p:cNvPr id="21" name="TextBox 21"/>
              <p:cNvSpPr txBox="1"/>
              <p:nvPr/>
            </p:nvSpPr>
            <p:spPr>
              <a:xfrm>
                <a:off x="0" y="-47625"/>
                <a:ext cx="919567" cy="202053"/>
              </a:xfrm>
              <a:prstGeom prst="rect">
                <a:avLst/>
              </a:prstGeom>
            </p:spPr>
            <p:txBody>
              <a:bodyPr lIns="50800" tIns="50800" rIns="50800" bIns="50800" rtlCol="0" anchor="ctr"/>
              <a:lstStyle/>
              <a:p>
                <a:pPr algn="ctr">
                  <a:lnSpc>
                    <a:spcPts val="2800"/>
                  </a:lnSpc>
                </a:pPr>
                <a:r>
                  <a:rPr lang="en-US" sz="2000">
                    <a:solidFill>
                      <a:srgbClr val="FFFFFF"/>
                    </a:solidFill>
                    <a:latin typeface="Body Grotesque Fit"/>
                    <a:ea typeface="Body Grotesque Fit"/>
                    <a:cs typeface="Body Grotesque Fit"/>
                    <a:sym typeface="Body Grotesque Fit"/>
                  </a:rPr>
                  <a:t>Pruebas</a:t>
                </a:r>
              </a:p>
            </p:txBody>
          </p:sp>
        </p:grpSp>
        <p:grpSp>
          <p:nvGrpSpPr>
            <p:cNvPr id="22" name="Group 22"/>
            <p:cNvGrpSpPr/>
            <p:nvPr/>
          </p:nvGrpSpPr>
          <p:grpSpPr>
            <a:xfrm>
              <a:off x="3624349" y="5187836"/>
              <a:ext cx="4655309" cy="781791"/>
              <a:chOff x="0" y="0"/>
              <a:chExt cx="919567" cy="154428"/>
            </a:xfrm>
          </p:grpSpPr>
          <p:sp>
            <p:nvSpPr>
              <p:cNvPr id="23" name="Freeform 23"/>
              <p:cNvSpPr/>
              <p:nvPr/>
            </p:nvSpPr>
            <p:spPr>
              <a:xfrm>
                <a:off x="0" y="0"/>
                <a:ext cx="919567" cy="154428"/>
              </a:xfrm>
              <a:custGeom>
                <a:avLst/>
                <a:gdLst/>
                <a:ahLst/>
                <a:cxnLst/>
                <a:rect l="l" t="t" r="r" b="b"/>
                <a:pathLst>
                  <a:path w="919567" h="154428">
                    <a:moveTo>
                      <a:pt x="0" y="0"/>
                    </a:moveTo>
                    <a:lnTo>
                      <a:pt x="919567" y="0"/>
                    </a:lnTo>
                    <a:lnTo>
                      <a:pt x="919567" y="154428"/>
                    </a:lnTo>
                    <a:lnTo>
                      <a:pt x="0" y="154428"/>
                    </a:lnTo>
                    <a:close/>
                  </a:path>
                </a:pathLst>
              </a:custGeom>
              <a:solidFill>
                <a:srgbClr val="028BB5"/>
              </a:solidFill>
            </p:spPr>
          </p:sp>
          <p:sp>
            <p:nvSpPr>
              <p:cNvPr id="24" name="TextBox 24"/>
              <p:cNvSpPr txBox="1"/>
              <p:nvPr/>
            </p:nvSpPr>
            <p:spPr>
              <a:xfrm>
                <a:off x="0" y="-47625"/>
                <a:ext cx="919567" cy="202053"/>
              </a:xfrm>
              <a:prstGeom prst="rect">
                <a:avLst/>
              </a:prstGeom>
            </p:spPr>
            <p:txBody>
              <a:bodyPr lIns="50800" tIns="50800" rIns="50800" bIns="50800" rtlCol="0" anchor="ctr"/>
              <a:lstStyle/>
              <a:p>
                <a:pPr algn="ctr">
                  <a:lnSpc>
                    <a:spcPts val="2800"/>
                  </a:lnSpc>
                </a:pPr>
                <a:r>
                  <a:rPr lang="en-US" sz="2000">
                    <a:solidFill>
                      <a:srgbClr val="FFFFFF"/>
                    </a:solidFill>
                    <a:latin typeface="Body Grotesque Fit"/>
                    <a:ea typeface="Body Grotesque Fit"/>
                    <a:cs typeface="Body Grotesque Fit"/>
                    <a:sym typeface="Body Grotesque Fit"/>
                  </a:rPr>
                  <a:t>Despliegue</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6714961" cy="1128383"/>
            <a:chOff x="0" y="0"/>
            <a:chExt cx="4402294" cy="297187"/>
          </a:xfrm>
        </p:grpSpPr>
        <p:sp>
          <p:nvSpPr>
            <p:cNvPr id="3" name="Freeform 3"/>
            <p:cNvSpPr/>
            <p:nvPr/>
          </p:nvSpPr>
          <p:spPr>
            <a:xfrm>
              <a:off x="0" y="0"/>
              <a:ext cx="4402294" cy="297187"/>
            </a:xfrm>
            <a:custGeom>
              <a:avLst/>
              <a:gdLst/>
              <a:ahLst/>
              <a:cxnLst/>
              <a:rect l="l" t="t" r="r" b="b"/>
              <a:pathLst>
                <a:path w="4402294" h="297187">
                  <a:moveTo>
                    <a:pt x="46317" y="0"/>
                  </a:moveTo>
                  <a:lnTo>
                    <a:pt x="4355977" y="0"/>
                  </a:lnTo>
                  <a:cubicBezTo>
                    <a:pt x="4381557" y="0"/>
                    <a:pt x="4402294" y="20737"/>
                    <a:pt x="4402294" y="46317"/>
                  </a:cubicBezTo>
                  <a:lnTo>
                    <a:pt x="4402294" y="250870"/>
                  </a:lnTo>
                  <a:cubicBezTo>
                    <a:pt x="4402294" y="276450"/>
                    <a:pt x="4381557" y="297187"/>
                    <a:pt x="4355977" y="297187"/>
                  </a:cubicBezTo>
                  <a:lnTo>
                    <a:pt x="46317" y="297187"/>
                  </a:lnTo>
                  <a:cubicBezTo>
                    <a:pt x="20737" y="297187"/>
                    <a:pt x="0" y="276450"/>
                    <a:pt x="0" y="250870"/>
                  </a:cubicBezTo>
                  <a:lnTo>
                    <a:pt x="0" y="46317"/>
                  </a:lnTo>
                  <a:cubicBezTo>
                    <a:pt x="0" y="20737"/>
                    <a:pt x="20737" y="0"/>
                    <a:pt x="46317" y="0"/>
                  </a:cubicBezTo>
                  <a:close/>
                </a:path>
              </a:pathLst>
            </a:custGeom>
            <a:solidFill>
              <a:srgbClr val="EAF2FF"/>
            </a:solidFill>
          </p:spPr>
        </p:sp>
        <p:sp>
          <p:nvSpPr>
            <p:cNvPr id="4" name="TextBox 4"/>
            <p:cNvSpPr txBox="1"/>
            <p:nvPr/>
          </p:nvSpPr>
          <p:spPr>
            <a:xfrm>
              <a:off x="0" y="-57150"/>
              <a:ext cx="4402294"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1241955" y="3095076"/>
            <a:ext cx="6041582" cy="6163224"/>
          </a:xfrm>
          <a:custGeom>
            <a:avLst/>
            <a:gdLst/>
            <a:ahLst/>
            <a:cxnLst/>
            <a:rect l="l" t="t" r="r" b="b"/>
            <a:pathLst>
              <a:path w="6041582" h="6163224">
                <a:moveTo>
                  <a:pt x="0" y="0"/>
                </a:moveTo>
                <a:lnTo>
                  <a:pt x="6041582" y="0"/>
                </a:lnTo>
                <a:lnTo>
                  <a:pt x="6041582" y="6163224"/>
                </a:lnTo>
                <a:lnTo>
                  <a:pt x="0" y="6163224"/>
                </a:lnTo>
                <a:lnTo>
                  <a:pt x="0" y="0"/>
                </a:lnTo>
                <a:close/>
              </a:path>
            </a:pathLst>
          </a:custGeom>
          <a:blipFill>
            <a:blip r:embed="rId3"/>
            <a:stretch>
              <a:fillRect l="-36374" t="-35107" r="-38626" b="-36439"/>
            </a:stretch>
          </a:blipFill>
        </p:spPr>
      </p:sp>
      <p:sp>
        <p:nvSpPr>
          <p:cNvPr id="6" name="Freeform 6"/>
          <p:cNvSpPr/>
          <p:nvPr/>
        </p:nvSpPr>
        <p:spPr>
          <a:xfrm>
            <a:off x="9519244" y="2921518"/>
            <a:ext cx="7254099" cy="4515728"/>
          </a:xfrm>
          <a:custGeom>
            <a:avLst/>
            <a:gdLst/>
            <a:ahLst/>
            <a:cxnLst/>
            <a:rect l="l" t="t" r="r" b="b"/>
            <a:pathLst>
              <a:path w="7254099" h="4515728">
                <a:moveTo>
                  <a:pt x="0" y="0"/>
                </a:moveTo>
                <a:lnTo>
                  <a:pt x="7254099" y="0"/>
                </a:lnTo>
                <a:lnTo>
                  <a:pt x="7254099" y="4515729"/>
                </a:lnTo>
                <a:lnTo>
                  <a:pt x="0" y="4515729"/>
                </a:lnTo>
                <a:lnTo>
                  <a:pt x="0" y="0"/>
                </a:lnTo>
                <a:close/>
              </a:path>
            </a:pathLst>
          </a:custGeom>
          <a:blipFill>
            <a:blip r:embed="rId4"/>
            <a:stretch>
              <a:fillRect/>
            </a:stretch>
          </a:blipFill>
        </p:spPr>
      </p:sp>
      <p:sp>
        <p:nvSpPr>
          <p:cNvPr id="7" name="TextBox 7"/>
          <p:cNvSpPr txBox="1"/>
          <p:nvPr/>
        </p:nvSpPr>
        <p:spPr>
          <a:xfrm>
            <a:off x="930128" y="1582321"/>
            <a:ext cx="1694587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INTRODUCCIÓN - ¿EN QUÉ PUNTO ESTAMOS?</a:t>
            </a:r>
          </a:p>
        </p:txBody>
      </p:sp>
      <p:sp>
        <p:nvSpPr>
          <p:cNvPr id="8" name="TextBox 8"/>
          <p:cNvSpPr txBox="1"/>
          <p:nvPr/>
        </p:nvSpPr>
        <p:spPr>
          <a:xfrm>
            <a:off x="8106498" y="8121984"/>
            <a:ext cx="8666845" cy="619325"/>
          </a:xfrm>
          <a:prstGeom prst="rect">
            <a:avLst/>
          </a:prstGeom>
        </p:spPr>
        <p:txBody>
          <a:bodyPr lIns="0" tIns="0" rIns="0" bIns="0" rtlCol="0" anchor="t">
            <a:spAutoFit/>
          </a:bodyPr>
          <a:lstStyle/>
          <a:p>
            <a:pPr algn="ctr">
              <a:lnSpc>
                <a:spcPts val="5177"/>
              </a:lnSpc>
              <a:spcBef>
                <a:spcPct val="0"/>
              </a:spcBef>
            </a:pPr>
            <a:r>
              <a:rPr lang="en-US" sz="3698">
                <a:solidFill>
                  <a:srgbClr val="6B7280"/>
                </a:solidFill>
                <a:latin typeface="Body Grotesque Fit"/>
                <a:ea typeface="Body Grotesque Fit"/>
                <a:cs typeface="Body Grotesque Fit"/>
                <a:sym typeface="Body Grotesque Fit"/>
              </a:rPr>
              <a:t>d_oc = id_oc + nro_+oc + fecha_oc + ....</a:t>
            </a:r>
          </a:p>
        </p:txBody>
      </p:sp>
      <p:grpSp>
        <p:nvGrpSpPr>
          <p:cNvPr id="9" name="Group 9"/>
          <p:cNvGrpSpPr/>
          <p:nvPr/>
        </p:nvGrpSpPr>
        <p:grpSpPr>
          <a:xfrm>
            <a:off x="0" y="9492721"/>
            <a:ext cx="18288000" cy="794279"/>
            <a:chOff x="0" y="0"/>
            <a:chExt cx="4816593" cy="209193"/>
          </a:xfrm>
        </p:grpSpPr>
        <p:sp>
          <p:nvSpPr>
            <p:cNvPr id="10" name="Freeform 10"/>
            <p:cNvSpPr/>
            <p:nvPr/>
          </p:nvSpPr>
          <p:spPr>
            <a:xfrm>
              <a:off x="0" y="0"/>
              <a:ext cx="4816592" cy="209193"/>
            </a:xfrm>
            <a:custGeom>
              <a:avLst/>
              <a:gdLst/>
              <a:ahLst/>
              <a:cxnLst/>
              <a:rect l="l" t="t" r="r" b="b"/>
              <a:pathLst>
                <a:path w="4816592" h="209193">
                  <a:moveTo>
                    <a:pt x="0" y="0"/>
                  </a:moveTo>
                  <a:lnTo>
                    <a:pt x="4816592" y="0"/>
                  </a:lnTo>
                  <a:lnTo>
                    <a:pt x="4816592" y="209193"/>
                  </a:lnTo>
                  <a:lnTo>
                    <a:pt x="0" y="209193"/>
                  </a:lnTo>
                  <a:close/>
                </a:path>
              </a:pathLst>
            </a:custGeom>
            <a:gradFill rotWithShape="1">
              <a:gsLst>
                <a:gs pos="0">
                  <a:srgbClr val="E9F2FF">
                    <a:alpha val="100000"/>
                  </a:srgbClr>
                </a:gs>
                <a:gs pos="100000">
                  <a:srgbClr val="A5C1F0">
                    <a:alpha val="100000"/>
                  </a:srgbClr>
                </a:gs>
              </a:gsLst>
              <a:lin ang="0"/>
            </a:gradFill>
          </p:spPr>
        </p:sp>
        <p:sp>
          <p:nvSpPr>
            <p:cNvPr id="11" name="TextBox 11"/>
            <p:cNvSpPr txBox="1"/>
            <p:nvPr/>
          </p:nvSpPr>
          <p:spPr>
            <a:xfrm>
              <a:off x="0" y="-57150"/>
              <a:ext cx="4816593" cy="266343"/>
            </a:xfrm>
            <a:prstGeom prst="rect">
              <a:avLst/>
            </a:prstGeom>
          </p:spPr>
          <p:txBody>
            <a:bodyPr lIns="50800" tIns="50800" rIns="50800" bIns="50800" rtlCol="0" anchor="ctr"/>
            <a:lstStyle/>
            <a:p>
              <a:pPr algn="ctr">
                <a:lnSpc>
                  <a:spcPts val="3584"/>
                </a:lnSpc>
              </a:pPr>
              <a:r>
                <a:rPr lang="en-US" sz="2560" b="1">
                  <a:solidFill>
                    <a:srgbClr val="000000"/>
                  </a:solidFill>
                  <a:latin typeface="Body Grotesque Fit Bold"/>
                  <a:ea typeface="Body Grotesque Fit Bold"/>
                  <a:cs typeface="Body Grotesque Fit Bold"/>
                  <a:sym typeface="Body Grotesque Fit Bold"/>
                </a:rPr>
                <a:t>Son herramientas para el Analista, no para el cliente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0095605" cy="1128383"/>
            <a:chOff x="0" y="0"/>
            <a:chExt cx="2658925" cy="297187"/>
          </a:xfrm>
        </p:grpSpPr>
        <p:sp>
          <p:nvSpPr>
            <p:cNvPr id="3" name="Freeform 3"/>
            <p:cNvSpPr/>
            <p:nvPr/>
          </p:nvSpPr>
          <p:spPr>
            <a:xfrm>
              <a:off x="0" y="0"/>
              <a:ext cx="2658925" cy="297187"/>
            </a:xfrm>
            <a:custGeom>
              <a:avLst/>
              <a:gdLst/>
              <a:ahLst/>
              <a:cxnLst/>
              <a:rect l="l" t="t" r="r" b="b"/>
              <a:pathLst>
                <a:path w="2658925" h="297187">
                  <a:moveTo>
                    <a:pt x="76686" y="0"/>
                  </a:moveTo>
                  <a:lnTo>
                    <a:pt x="2582239" y="0"/>
                  </a:lnTo>
                  <a:cubicBezTo>
                    <a:pt x="2624591" y="0"/>
                    <a:pt x="2658925" y="34334"/>
                    <a:pt x="2658925" y="76686"/>
                  </a:cubicBezTo>
                  <a:lnTo>
                    <a:pt x="2658925" y="220501"/>
                  </a:lnTo>
                  <a:cubicBezTo>
                    <a:pt x="2658925" y="262854"/>
                    <a:pt x="2624591" y="297187"/>
                    <a:pt x="2582239" y="297187"/>
                  </a:cubicBezTo>
                  <a:lnTo>
                    <a:pt x="76686" y="297187"/>
                  </a:lnTo>
                  <a:cubicBezTo>
                    <a:pt x="34334" y="297187"/>
                    <a:pt x="0" y="262854"/>
                    <a:pt x="0" y="220501"/>
                  </a:cubicBezTo>
                  <a:lnTo>
                    <a:pt x="0" y="76686"/>
                  </a:lnTo>
                  <a:cubicBezTo>
                    <a:pt x="0" y="34334"/>
                    <a:pt x="34334" y="0"/>
                    <a:pt x="76686" y="0"/>
                  </a:cubicBezTo>
                  <a:close/>
                </a:path>
              </a:pathLst>
            </a:custGeom>
            <a:solidFill>
              <a:srgbClr val="EAF2FF"/>
            </a:solidFill>
          </p:spPr>
        </p:sp>
        <p:sp>
          <p:nvSpPr>
            <p:cNvPr id="4" name="TextBox 4"/>
            <p:cNvSpPr txBox="1"/>
            <p:nvPr/>
          </p:nvSpPr>
          <p:spPr>
            <a:xfrm>
              <a:off x="0" y="-57150"/>
              <a:ext cx="2658925"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1677730" y="4860542"/>
            <a:ext cx="5710868" cy="4083271"/>
          </a:xfrm>
          <a:custGeom>
            <a:avLst/>
            <a:gdLst/>
            <a:ahLst/>
            <a:cxnLst/>
            <a:rect l="l" t="t" r="r" b="b"/>
            <a:pathLst>
              <a:path w="5710868" h="4083271">
                <a:moveTo>
                  <a:pt x="0" y="0"/>
                </a:moveTo>
                <a:lnTo>
                  <a:pt x="5710869" y="0"/>
                </a:lnTo>
                <a:lnTo>
                  <a:pt x="5710869" y="4083271"/>
                </a:lnTo>
                <a:lnTo>
                  <a:pt x="0" y="4083271"/>
                </a:lnTo>
                <a:lnTo>
                  <a:pt x="0" y="0"/>
                </a:lnTo>
                <a:close/>
              </a:path>
            </a:pathLst>
          </a:custGeom>
          <a:blipFill>
            <a:blip r:embed="rId3"/>
            <a:stretch>
              <a:fillRect/>
            </a:stretch>
          </a:blipFill>
        </p:spPr>
      </p:sp>
      <p:sp>
        <p:nvSpPr>
          <p:cNvPr id="6" name="TextBox 6"/>
          <p:cNvSpPr txBox="1"/>
          <p:nvPr/>
        </p:nvSpPr>
        <p:spPr>
          <a:xfrm>
            <a:off x="1028700" y="2866641"/>
            <a:ext cx="7768641" cy="1727200"/>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Tomamos toda la información del negocio, el contexto, los requerimientos y el diseño de los datos para representarlo mediante pantallas, navegación y elementos visuales.</a:t>
            </a:r>
          </a:p>
        </p:txBody>
      </p:sp>
      <p:grpSp>
        <p:nvGrpSpPr>
          <p:cNvPr id="7" name="Group 7"/>
          <p:cNvGrpSpPr/>
          <p:nvPr/>
        </p:nvGrpSpPr>
        <p:grpSpPr>
          <a:xfrm>
            <a:off x="9083091" y="2834276"/>
            <a:ext cx="7769547" cy="754125"/>
            <a:chOff x="0" y="0"/>
            <a:chExt cx="10359395" cy="1005501"/>
          </a:xfrm>
        </p:grpSpPr>
        <p:grpSp>
          <p:nvGrpSpPr>
            <p:cNvPr id="8" name="Group 8"/>
            <p:cNvGrpSpPr/>
            <p:nvPr/>
          </p:nvGrpSpPr>
          <p:grpSpPr>
            <a:xfrm>
              <a:off x="0" y="0"/>
              <a:ext cx="10359395" cy="1005501"/>
              <a:chOff x="0" y="0"/>
              <a:chExt cx="2046300" cy="198617"/>
            </a:xfrm>
          </p:grpSpPr>
          <p:sp>
            <p:nvSpPr>
              <p:cNvPr id="9" name="Freeform 9"/>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10" name="TextBox 10"/>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11" name="Group 11"/>
            <p:cNvGrpSpPr/>
            <p:nvPr/>
          </p:nvGrpSpPr>
          <p:grpSpPr>
            <a:xfrm>
              <a:off x="81212" y="82991"/>
              <a:ext cx="844929" cy="84492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14" name="TextBox 14"/>
            <p:cNvSpPr txBox="1"/>
            <p:nvPr/>
          </p:nvSpPr>
          <p:spPr>
            <a:xfrm>
              <a:off x="1306437" y="214883"/>
              <a:ext cx="7223689"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¿Qué pantallas tendrá el sistema?</a:t>
              </a:r>
            </a:p>
          </p:txBody>
        </p:sp>
      </p:grpSp>
      <p:grpSp>
        <p:nvGrpSpPr>
          <p:cNvPr id="15" name="Group 15"/>
          <p:cNvGrpSpPr/>
          <p:nvPr/>
        </p:nvGrpSpPr>
        <p:grpSpPr>
          <a:xfrm>
            <a:off x="9083091" y="3744603"/>
            <a:ext cx="8446026" cy="754125"/>
            <a:chOff x="0" y="0"/>
            <a:chExt cx="11261368" cy="1005501"/>
          </a:xfrm>
        </p:grpSpPr>
        <p:grpSp>
          <p:nvGrpSpPr>
            <p:cNvPr id="16" name="Group 16"/>
            <p:cNvGrpSpPr/>
            <p:nvPr/>
          </p:nvGrpSpPr>
          <p:grpSpPr>
            <a:xfrm>
              <a:off x="0" y="0"/>
              <a:ext cx="10359395" cy="1005501"/>
              <a:chOff x="0" y="0"/>
              <a:chExt cx="2046300" cy="198617"/>
            </a:xfrm>
          </p:grpSpPr>
          <p:sp>
            <p:nvSpPr>
              <p:cNvPr id="17" name="Freeform 17"/>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18" name="TextBox 18"/>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19" name="Group 19"/>
            <p:cNvGrpSpPr/>
            <p:nvPr/>
          </p:nvGrpSpPr>
          <p:grpSpPr>
            <a:xfrm>
              <a:off x="81212" y="80286"/>
              <a:ext cx="844929" cy="84492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22" name="TextBox 22"/>
            <p:cNvSpPr txBox="1"/>
            <p:nvPr/>
          </p:nvSpPr>
          <p:spPr>
            <a:xfrm>
              <a:off x="1306437" y="214883"/>
              <a:ext cx="9954931"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¿Qué paleta de colores usaremos?</a:t>
              </a:r>
            </a:p>
          </p:txBody>
        </p:sp>
      </p:grpSp>
      <p:sp>
        <p:nvSpPr>
          <p:cNvPr id="23" name="TextBox 23"/>
          <p:cNvSpPr txBox="1"/>
          <p:nvPr/>
        </p:nvSpPr>
        <p:spPr>
          <a:xfrm>
            <a:off x="930128" y="1582321"/>
            <a:ext cx="10348932"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DISEÑO DE INTERFACES</a:t>
            </a:r>
          </a:p>
        </p:txBody>
      </p:sp>
      <p:grpSp>
        <p:nvGrpSpPr>
          <p:cNvPr id="24" name="Group 24"/>
          <p:cNvGrpSpPr/>
          <p:nvPr/>
        </p:nvGrpSpPr>
        <p:grpSpPr>
          <a:xfrm>
            <a:off x="9083091" y="4654929"/>
            <a:ext cx="7769547" cy="754125"/>
            <a:chOff x="0" y="0"/>
            <a:chExt cx="10359395" cy="1005501"/>
          </a:xfrm>
        </p:grpSpPr>
        <p:grpSp>
          <p:nvGrpSpPr>
            <p:cNvPr id="25" name="Group 25"/>
            <p:cNvGrpSpPr/>
            <p:nvPr/>
          </p:nvGrpSpPr>
          <p:grpSpPr>
            <a:xfrm>
              <a:off x="0" y="0"/>
              <a:ext cx="10359395" cy="1005501"/>
              <a:chOff x="0" y="0"/>
              <a:chExt cx="2046300" cy="198617"/>
            </a:xfrm>
          </p:grpSpPr>
          <p:sp>
            <p:nvSpPr>
              <p:cNvPr id="26" name="Freeform 26"/>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27" name="TextBox 27"/>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28" name="Group 28"/>
            <p:cNvGrpSpPr/>
            <p:nvPr/>
          </p:nvGrpSpPr>
          <p:grpSpPr>
            <a:xfrm>
              <a:off x="81212" y="77580"/>
              <a:ext cx="844929" cy="84492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30" name="TextBox 30"/>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31" name="TextBox 31"/>
            <p:cNvSpPr txBox="1"/>
            <p:nvPr/>
          </p:nvSpPr>
          <p:spPr>
            <a:xfrm>
              <a:off x="1306437" y="214883"/>
              <a:ext cx="8758767"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¿Como interactuará el usuario?</a:t>
              </a:r>
            </a:p>
          </p:txBody>
        </p:sp>
      </p:grpSp>
      <p:grpSp>
        <p:nvGrpSpPr>
          <p:cNvPr id="32" name="Group 32"/>
          <p:cNvGrpSpPr/>
          <p:nvPr/>
        </p:nvGrpSpPr>
        <p:grpSpPr>
          <a:xfrm>
            <a:off x="9083091" y="5565255"/>
            <a:ext cx="7769547" cy="754125"/>
            <a:chOff x="0" y="0"/>
            <a:chExt cx="10359395" cy="1005501"/>
          </a:xfrm>
        </p:grpSpPr>
        <p:grpSp>
          <p:nvGrpSpPr>
            <p:cNvPr id="33" name="Group 33"/>
            <p:cNvGrpSpPr/>
            <p:nvPr/>
          </p:nvGrpSpPr>
          <p:grpSpPr>
            <a:xfrm>
              <a:off x="0" y="0"/>
              <a:ext cx="10359395" cy="1005501"/>
              <a:chOff x="0" y="0"/>
              <a:chExt cx="2046300" cy="198617"/>
            </a:xfrm>
          </p:grpSpPr>
          <p:sp>
            <p:nvSpPr>
              <p:cNvPr id="34" name="Freeform 34"/>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35" name="TextBox 35"/>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36" name="Group 36"/>
            <p:cNvGrpSpPr/>
            <p:nvPr/>
          </p:nvGrpSpPr>
          <p:grpSpPr>
            <a:xfrm>
              <a:off x="81212" y="74875"/>
              <a:ext cx="844929" cy="844929"/>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38" name="TextBox 38"/>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39" name="TextBox 39"/>
            <p:cNvSpPr txBox="1"/>
            <p:nvPr/>
          </p:nvSpPr>
          <p:spPr>
            <a:xfrm>
              <a:off x="1306437" y="214883"/>
              <a:ext cx="8379981"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¿Qué acciones tendrá disponible?</a:t>
              </a:r>
            </a:p>
          </p:txBody>
        </p:sp>
      </p:grpSp>
      <p:grpSp>
        <p:nvGrpSpPr>
          <p:cNvPr id="40" name="Group 40"/>
          <p:cNvGrpSpPr/>
          <p:nvPr/>
        </p:nvGrpSpPr>
        <p:grpSpPr>
          <a:xfrm>
            <a:off x="9083091" y="6475582"/>
            <a:ext cx="7769547" cy="754125"/>
            <a:chOff x="0" y="0"/>
            <a:chExt cx="10359395" cy="1005501"/>
          </a:xfrm>
        </p:grpSpPr>
        <p:grpSp>
          <p:nvGrpSpPr>
            <p:cNvPr id="41" name="Group 41"/>
            <p:cNvGrpSpPr/>
            <p:nvPr/>
          </p:nvGrpSpPr>
          <p:grpSpPr>
            <a:xfrm>
              <a:off x="0" y="0"/>
              <a:ext cx="10359395" cy="1005501"/>
              <a:chOff x="0" y="0"/>
              <a:chExt cx="2046300" cy="198617"/>
            </a:xfrm>
          </p:grpSpPr>
          <p:sp>
            <p:nvSpPr>
              <p:cNvPr id="42" name="Freeform 42"/>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43" name="TextBox 43"/>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44" name="Group 44"/>
            <p:cNvGrpSpPr/>
            <p:nvPr/>
          </p:nvGrpSpPr>
          <p:grpSpPr>
            <a:xfrm>
              <a:off x="81212" y="72170"/>
              <a:ext cx="844929" cy="844929"/>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46" name="TextBox 46"/>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47" name="TextBox 47"/>
            <p:cNvSpPr txBox="1"/>
            <p:nvPr/>
          </p:nvSpPr>
          <p:spPr>
            <a:xfrm>
              <a:off x="1306437" y="214883"/>
              <a:ext cx="8379981"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¿Qué elementos son más imporantes?</a:t>
              </a:r>
            </a:p>
          </p:txBody>
        </p:sp>
      </p:grpSp>
      <p:grpSp>
        <p:nvGrpSpPr>
          <p:cNvPr id="48" name="Group 48"/>
          <p:cNvGrpSpPr/>
          <p:nvPr/>
        </p:nvGrpSpPr>
        <p:grpSpPr>
          <a:xfrm>
            <a:off x="9083091" y="7385908"/>
            <a:ext cx="7769547" cy="754125"/>
            <a:chOff x="0" y="0"/>
            <a:chExt cx="10359395" cy="1005501"/>
          </a:xfrm>
        </p:grpSpPr>
        <p:grpSp>
          <p:nvGrpSpPr>
            <p:cNvPr id="49" name="Group 49"/>
            <p:cNvGrpSpPr/>
            <p:nvPr/>
          </p:nvGrpSpPr>
          <p:grpSpPr>
            <a:xfrm>
              <a:off x="0" y="0"/>
              <a:ext cx="10359395" cy="1005501"/>
              <a:chOff x="0" y="0"/>
              <a:chExt cx="2046300" cy="198617"/>
            </a:xfrm>
          </p:grpSpPr>
          <p:sp>
            <p:nvSpPr>
              <p:cNvPr id="50" name="Freeform 50"/>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51" name="TextBox 51"/>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52" name="Group 52"/>
            <p:cNvGrpSpPr/>
            <p:nvPr/>
          </p:nvGrpSpPr>
          <p:grpSpPr>
            <a:xfrm>
              <a:off x="81212" y="69465"/>
              <a:ext cx="844929" cy="844929"/>
              <a:chOff x="0" y="0"/>
              <a:chExt cx="812800" cy="812800"/>
            </a:xfrm>
          </p:grpSpPr>
          <p:sp>
            <p:nvSpPr>
              <p:cNvPr id="53" name="Freeform 5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54" name="TextBox 54"/>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55" name="TextBox 55"/>
            <p:cNvSpPr txBox="1"/>
            <p:nvPr/>
          </p:nvSpPr>
          <p:spPr>
            <a:xfrm>
              <a:off x="1306437" y="214883"/>
              <a:ext cx="8758767"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¿Habrá feedback si algo sale mal?</a:t>
              </a:r>
            </a:p>
          </p:txBody>
        </p:sp>
      </p:grpSp>
      <p:grpSp>
        <p:nvGrpSpPr>
          <p:cNvPr id="56" name="Group 56"/>
          <p:cNvGrpSpPr/>
          <p:nvPr/>
        </p:nvGrpSpPr>
        <p:grpSpPr>
          <a:xfrm>
            <a:off x="9083091" y="8359108"/>
            <a:ext cx="7769547" cy="754125"/>
            <a:chOff x="0" y="0"/>
            <a:chExt cx="10359395" cy="1005501"/>
          </a:xfrm>
        </p:grpSpPr>
        <p:grpSp>
          <p:nvGrpSpPr>
            <p:cNvPr id="57" name="Group 57"/>
            <p:cNvGrpSpPr/>
            <p:nvPr/>
          </p:nvGrpSpPr>
          <p:grpSpPr>
            <a:xfrm>
              <a:off x="0" y="0"/>
              <a:ext cx="10359395" cy="1005501"/>
              <a:chOff x="0" y="0"/>
              <a:chExt cx="2046300" cy="198617"/>
            </a:xfrm>
          </p:grpSpPr>
          <p:sp>
            <p:nvSpPr>
              <p:cNvPr id="58" name="Freeform 58"/>
              <p:cNvSpPr/>
              <p:nvPr/>
            </p:nvSpPr>
            <p:spPr>
              <a:xfrm>
                <a:off x="0" y="0"/>
                <a:ext cx="2046300" cy="198617"/>
              </a:xfrm>
              <a:custGeom>
                <a:avLst/>
                <a:gdLst/>
                <a:ahLst/>
                <a:cxnLst/>
                <a:rect l="l" t="t" r="r" b="b"/>
                <a:pathLst>
                  <a:path w="2046300" h="198617">
                    <a:moveTo>
                      <a:pt x="99309" y="0"/>
                    </a:moveTo>
                    <a:lnTo>
                      <a:pt x="1946992" y="0"/>
                    </a:lnTo>
                    <a:cubicBezTo>
                      <a:pt x="1973330" y="0"/>
                      <a:pt x="1998589" y="10463"/>
                      <a:pt x="2017213" y="29087"/>
                    </a:cubicBezTo>
                    <a:cubicBezTo>
                      <a:pt x="2035837" y="47711"/>
                      <a:pt x="2046300" y="72970"/>
                      <a:pt x="2046300" y="99309"/>
                    </a:cubicBezTo>
                    <a:lnTo>
                      <a:pt x="2046300" y="99309"/>
                    </a:lnTo>
                    <a:cubicBezTo>
                      <a:pt x="2046300" y="154155"/>
                      <a:pt x="2001838" y="198617"/>
                      <a:pt x="1946992" y="198617"/>
                    </a:cubicBezTo>
                    <a:lnTo>
                      <a:pt x="99309" y="198617"/>
                    </a:lnTo>
                    <a:cubicBezTo>
                      <a:pt x="72970" y="198617"/>
                      <a:pt x="47711" y="188155"/>
                      <a:pt x="29087" y="169531"/>
                    </a:cubicBezTo>
                    <a:cubicBezTo>
                      <a:pt x="10463" y="150907"/>
                      <a:pt x="0" y="125647"/>
                      <a:pt x="0" y="99309"/>
                    </a:cubicBezTo>
                    <a:lnTo>
                      <a:pt x="0" y="99309"/>
                    </a:lnTo>
                    <a:cubicBezTo>
                      <a:pt x="0" y="72970"/>
                      <a:pt x="10463" y="47711"/>
                      <a:pt x="29087" y="29087"/>
                    </a:cubicBezTo>
                    <a:cubicBezTo>
                      <a:pt x="47711" y="10463"/>
                      <a:pt x="72970" y="0"/>
                      <a:pt x="99309" y="0"/>
                    </a:cubicBezTo>
                    <a:close/>
                  </a:path>
                </a:pathLst>
              </a:custGeom>
              <a:solidFill>
                <a:srgbClr val="EAF2FF"/>
              </a:solidFill>
            </p:spPr>
          </p:sp>
          <p:sp>
            <p:nvSpPr>
              <p:cNvPr id="59" name="TextBox 59"/>
              <p:cNvSpPr txBox="1"/>
              <p:nvPr/>
            </p:nvSpPr>
            <p:spPr>
              <a:xfrm>
                <a:off x="0" y="-57150"/>
                <a:ext cx="2046300" cy="255767"/>
              </a:xfrm>
              <a:prstGeom prst="rect">
                <a:avLst/>
              </a:prstGeom>
            </p:spPr>
            <p:txBody>
              <a:bodyPr lIns="50800" tIns="50800" rIns="50800" bIns="50800" rtlCol="0" anchor="ctr"/>
              <a:lstStyle/>
              <a:p>
                <a:pPr algn="ctr">
                  <a:lnSpc>
                    <a:spcPts val="3584"/>
                  </a:lnSpc>
                </a:pPr>
                <a:endParaRPr/>
              </a:p>
            </p:txBody>
          </p:sp>
        </p:grpSp>
        <p:grpSp>
          <p:nvGrpSpPr>
            <p:cNvPr id="60" name="Group 60"/>
            <p:cNvGrpSpPr/>
            <p:nvPr/>
          </p:nvGrpSpPr>
          <p:grpSpPr>
            <a:xfrm>
              <a:off x="81212" y="80286"/>
              <a:ext cx="844929" cy="844929"/>
              <a:chOff x="0" y="0"/>
              <a:chExt cx="812800" cy="812800"/>
            </a:xfrm>
          </p:grpSpPr>
          <p:sp>
            <p:nvSpPr>
              <p:cNvPr id="61" name="Freeform 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BFEF"/>
              </a:solidFill>
            </p:spPr>
          </p:sp>
          <p:sp>
            <p:nvSpPr>
              <p:cNvPr id="62" name="TextBox 62"/>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63" name="TextBox 63"/>
            <p:cNvSpPr txBox="1"/>
            <p:nvPr/>
          </p:nvSpPr>
          <p:spPr>
            <a:xfrm>
              <a:off x="1306437" y="214883"/>
              <a:ext cx="8758767"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¿Cantidad de pasos para X acción?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1855542" cy="1128383"/>
            <a:chOff x="0" y="0"/>
            <a:chExt cx="3122447" cy="297187"/>
          </a:xfrm>
        </p:grpSpPr>
        <p:sp>
          <p:nvSpPr>
            <p:cNvPr id="3" name="Freeform 3"/>
            <p:cNvSpPr/>
            <p:nvPr/>
          </p:nvSpPr>
          <p:spPr>
            <a:xfrm>
              <a:off x="0" y="0"/>
              <a:ext cx="3122447" cy="297187"/>
            </a:xfrm>
            <a:custGeom>
              <a:avLst/>
              <a:gdLst/>
              <a:ahLst/>
              <a:cxnLst/>
              <a:rect l="l" t="t" r="r" b="b"/>
              <a:pathLst>
                <a:path w="3122447" h="297187">
                  <a:moveTo>
                    <a:pt x="65302" y="0"/>
                  </a:moveTo>
                  <a:lnTo>
                    <a:pt x="3057145" y="0"/>
                  </a:lnTo>
                  <a:cubicBezTo>
                    <a:pt x="3074464" y="0"/>
                    <a:pt x="3091074" y="6880"/>
                    <a:pt x="3103321" y="19127"/>
                  </a:cubicBezTo>
                  <a:cubicBezTo>
                    <a:pt x="3115567" y="31373"/>
                    <a:pt x="3122447" y="47983"/>
                    <a:pt x="3122447" y="65302"/>
                  </a:cubicBezTo>
                  <a:lnTo>
                    <a:pt x="3122447" y="231885"/>
                  </a:lnTo>
                  <a:cubicBezTo>
                    <a:pt x="3122447" y="249204"/>
                    <a:pt x="3115567" y="265814"/>
                    <a:pt x="3103321" y="278061"/>
                  </a:cubicBezTo>
                  <a:cubicBezTo>
                    <a:pt x="3091074" y="290307"/>
                    <a:pt x="3074464" y="297187"/>
                    <a:pt x="3057145" y="297187"/>
                  </a:cubicBezTo>
                  <a:lnTo>
                    <a:pt x="65302" y="297187"/>
                  </a:lnTo>
                  <a:cubicBezTo>
                    <a:pt x="47983" y="297187"/>
                    <a:pt x="31373" y="290307"/>
                    <a:pt x="19127" y="278061"/>
                  </a:cubicBezTo>
                  <a:cubicBezTo>
                    <a:pt x="6880" y="265814"/>
                    <a:pt x="0" y="249204"/>
                    <a:pt x="0" y="231885"/>
                  </a:cubicBezTo>
                  <a:lnTo>
                    <a:pt x="0" y="65302"/>
                  </a:lnTo>
                  <a:cubicBezTo>
                    <a:pt x="0" y="47983"/>
                    <a:pt x="6880" y="31373"/>
                    <a:pt x="19127" y="19127"/>
                  </a:cubicBezTo>
                  <a:cubicBezTo>
                    <a:pt x="31373" y="6880"/>
                    <a:pt x="47983" y="0"/>
                    <a:pt x="65302" y="0"/>
                  </a:cubicBezTo>
                  <a:close/>
                </a:path>
              </a:pathLst>
            </a:custGeom>
            <a:solidFill>
              <a:srgbClr val="EAF2FF"/>
            </a:solidFill>
          </p:spPr>
        </p:sp>
        <p:sp>
          <p:nvSpPr>
            <p:cNvPr id="4" name="TextBox 4"/>
            <p:cNvSpPr txBox="1"/>
            <p:nvPr/>
          </p:nvSpPr>
          <p:spPr>
            <a:xfrm>
              <a:off x="0" y="-57150"/>
              <a:ext cx="3122447" cy="354337"/>
            </a:xfrm>
            <a:prstGeom prst="rect">
              <a:avLst/>
            </a:prstGeom>
          </p:spPr>
          <p:txBody>
            <a:bodyPr lIns="50800" tIns="50800" rIns="50800" bIns="50800" rtlCol="0" anchor="ctr"/>
            <a:lstStyle/>
            <a:p>
              <a:pPr algn="ctr">
                <a:lnSpc>
                  <a:spcPts val="3584"/>
                </a:lnSpc>
              </a:pPr>
              <a:endParaRPr/>
            </a:p>
          </p:txBody>
        </p:sp>
      </p:grpSp>
      <p:sp>
        <p:nvSpPr>
          <p:cNvPr id="5" name="TextBox 5"/>
          <p:cNvSpPr txBox="1"/>
          <p:nvPr/>
        </p:nvSpPr>
        <p:spPr>
          <a:xfrm>
            <a:off x="930128" y="3261140"/>
            <a:ext cx="15911533" cy="5981065"/>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El diseño de interfaces </a:t>
            </a:r>
            <a:r>
              <a:rPr lang="en-US" sz="3399" b="1">
                <a:solidFill>
                  <a:srgbClr val="6B7280"/>
                </a:solidFill>
                <a:latin typeface="Body Grotesque Fit Bold"/>
                <a:ea typeface="Body Grotesque Fit Bold"/>
                <a:cs typeface="Body Grotesque Fit Bold"/>
                <a:sym typeface="Body Grotesque Fit Bold"/>
              </a:rPr>
              <a:t>NO </a:t>
            </a:r>
            <a:r>
              <a:rPr lang="en-US" sz="3399">
                <a:solidFill>
                  <a:srgbClr val="6B7280"/>
                </a:solidFill>
                <a:latin typeface="Body Grotesque Fit"/>
                <a:ea typeface="Body Grotesque Fit"/>
                <a:cs typeface="Body Grotesque Fit"/>
                <a:sym typeface="Body Grotesque Fit"/>
              </a:rPr>
              <a:t>reemplaza al análisis del negocio, normalmente son procesos que se retroalimentan dependiendo del ciclo de vida de desarrollo que utilicemos.</a:t>
            </a:r>
          </a:p>
          <a:p>
            <a:pPr algn="just">
              <a:lnSpc>
                <a:spcPts val="4759"/>
              </a:lnSpc>
            </a:pPr>
            <a:endParaRPr lang="en-US" sz="3399">
              <a:solidFill>
                <a:srgbClr val="6B7280"/>
              </a:solidFill>
              <a:latin typeface="Body Grotesque Fit"/>
              <a:ea typeface="Body Grotesque Fit"/>
              <a:cs typeface="Body Grotesque Fit"/>
              <a:sym typeface="Body Grotesque Fit"/>
            </a:endParaRPr>
          </a:p>
          <a:p>
            <a:pPr algn="just">
              <a:lnSpc>
                <a:spcPts val="4759"/>
              </a:lnSpc>
            </a:pPr>
            <a:r>
              <a:rPr lang="en-US" sz="3399">
                <a:solidFill>
                  <a:srgbClr val="6B7280"/>
                </a:solidFill>
                <a:latin typeface="Body Grotesque Fit"/>
                <a:ea typeface="Body Grotesque Fit"/>
                <a:cs typeface="Body Grotesque Fit"/>
                <a:sym typeface="Body Grotesque Fit"/>
              </a:rPr>
              <a:t>Puede pasar que al diseñar una pantalla nos demos cuenta de que faltan datos que no relevamos correctamente, o que hay datos que están de más.</a:t>
            </a:r>
          </a:p>
          <a:p>
            <a:pPr algn="just">
              <a:lnSpc>
                <a:spcPts val="4759"/>
              </a:lnSpc>
            </a:pPr>
            <a:endParaRPr lang="en-US" sz="3399">
              <a:solidFill>
                <a:srgbClr val="6B7280"/>
              </a:solidFill>
              <a:latin typeface="Body Grotesque Fit"/>
              <a:ea typeface="Body Grotesque Fit"/>
              <a:cs typeface="Body Grotesque Fit"/>
              <a:sym typeface="Body Grotesque Fit"/>
            </a:endParaRPr>
          </a:p>
          <a:p>
            <a:pPr algn="just">
              <a:lnSpc>
                <a:spcPts val="4759"/>
              </a:lnSpc>
            </a:pPr>
            <a:r>
              <a:rPr lang="en-US" sz="3399">
                <a:solidFill>
                  <a:srgbClr val="6B7280"/>
                </a:solidFill>
                <a:latin typeface="Body Grotesque Fit"/>
                <a:ea typeface="Body Grotesque Fit"/>
                <a:cs typeface="Body Grotesque Fit"/>
                <a:sym typeface="Body Grotesque Fit"/>
              </a:rPr>
              <a:t>Por eso es tan importante la </a:t>
            </a:r>
            <a:r>
              <a:rPr lang="en-US" sz="3399" b="1">
                <a:solidFill>
                  <a:srgbClr val="6B7280"/>
                </a:solidFill>
                <a:latin typeface="Body Grotesque Fit Bold"/>
                <a:ea typeface="Body Grotesque Fit Bold"/>
                <a:cs typeface="Body Grotesque Fit Bold"/>
                <a:sym typeface="Body Grotesque Fit Bold"/>
              </a:rPr>
              <a:t>Comunicación Eficiente </a:t>
            </a:r>
            <a:r>
              <a:rPr lang="en-US" sz="3399">
                <a:solidFill>
                  <a:srgbClr val="6B7280"/>
                </a:solidFill>
                <a:latin typeface="Body Grotesque Fit"/>
                <a:ea typeface="Body Grotesque Fit"/>
                <a:cs typeface="Body Grotesque Fit"/>
                <a:sym typeface="Body Grotesque Fit"/>
              </a:rPr>
              <a:t>con el cliente y hablar el </a:t>
            </a:r>
            <a:r>
              <a:rPr lang="en-US" sz="3399" b="1">
                <a:solidFill>
                  <a:srgbClr val="6B7280"/>
                </a:solidFill>
                <a:latin typeface="Body Grotesque Fit Bold"/>
                <a:ea typeface="Body Grotesque Fit Bold"/>
                <a:cs typeface="Body Grotesque Fit Bold"/>
                <a:sym typeface="Body Grotesque Fit Bold"/>
              </a:rPr>
              <a:t>mismo idioma de negocio</a:t>
            </a:r>
            <a:r>
              <a:rPr lang="en-US" sz="3399">
                <a:solidFill>
                  <a:srgbClr val="6B7280"/>
                </a:solidFill>
                <a:latin typeface="Body Grotesque Fit"/>
                <a:ea typeface="Body Grotesque Fit"/>
                <a:cs typeface="Body Grotesque Fit"/>
                <a:sym typeface="Body Grotesque Fit"/>
              </a:rPr>
              <a:t>, para evitar estos problemas. Un buen análisis me facilita notablemente el diseño y, por ende, el desarrollo.</a:t>
            </a:r>
          </a:p>
        </p:txBody>
      </p:sp>
      <p:sp>
        <p:nvSpPr>
          <p:cNvPr id="6" name="Freeform 6"/>
          <p:cNvSpPr/>
          <p:nvPr/>
        </p:nvSpPr>
        <p:spPr>
          <a:xfrm>
            <a:off x="14133004" y="323242"/>
            <a:ext cx="2708656" cy="2708656"/>
          </a:xfrm>
          <a:custGeom>
            <a:avLst/>
            <a:gdLst/>
            <a:ahLst/>
            <a:cxnLst/>
            <a:rect l="l" t="t" r="r" b="b"/>
            <a:pathLst>
              <a:path w="2708656" h="2708656">
                <a:moveTo>
                  <a:pt x="0" y="0"/>
                </a:moveTo>
                <a:lnTo>
                  <a:pt x="2708657" y="0"/>
                </a:lnTo>
                <a:lnTo>
                  <a:pt x="2708657" y="2708657"/>
                </a:lnTo>
                <a:lnTo>
                  <a:pt x="0" y="2708657"/>
                </a:lnTo>
                <a:lnTo>
                  <a:pt x="0" y="0"/>
                </a:lnTo>
                <a:close/>
              </a:path>
            </a:pathLst>
          </a:custGeom>
          <a:blipFill>
            <a:blip r:embed="rId2"/>
            <a:stretch>
              <a:fillRect/>
            </a:stretch>
          </a:blipFill>
        </p:spPr>
      </p:sp>
      <p:sp>
        <p:nvSpPr>
          <p:cNvPr id="7" name="TextBox 7"/>
          <p:cNvSpPr txBox="1"/>
          <p:nvPr/>
        </p:nvSpPr>
        <p:spPr>
          <a:xfrm>
            <a:off x="930128" y="1582321"/>
            <a:ext cx="9410037"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RELACIÓN CON EL ANÁLISIS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1915351" cy="1128383"/>
            <a:chOff x="0" y="0"/>
            <a:chExt cx="3138199" cy="297187"/>
          </a:xfrm>
        </p:grpSpPr>
        <p:sp>
          <p:nvSpPr>
            <p:cNvPr id="3" name="Freeform 3"/>
            <p:cNvSpPr/>
            <p:nvPr/>
          </p:nvSpPr>
          <p:spPr>
            <a:xfrm>
              <a:off x="0" y="0"/>
              <a:ext cx="3138199" cy="297187"/>
            </a:xfrm>
            <a:custGeom>
              <a:avLst/>
              <a:gdLst/>
              <a:ahLst/>
              <a:cxnLst/>
              <a:rect l="l" t="t" r="r" b="b"/>
              <a:pathLst>
                <a:path w="3138199" h="297187">
                  <a:moveTo>
                    <a:pt x="64974" y="0"/>
                  </a:moveTo>
                  <a:lnTo>
                    <a:pt x="3073225" y="0"/>
                  </a:lnTo>
                  <a:cubicBezTo>
                    <a:pt x="3090457" y="0"/>
                    <a:pt x="3106984" y="6845"/>
                    <a:pt x="3119169" y="19031"/>
                  </a:cubicBezTo>
                  <a:cubicBezTo>
                    <a:pt x="3131354" y="31216"/>
                    <a:pt x="3138199" y="47742"/>
                    <a:pt x="3138199" y="64974"/>
                  </a:cubicBezTo>
                  <a:lnTo>
                    <a:pt x="3138199" y="232213"/>
                  </a:lnTo>
                  <a:cubicBezTo>
                    <a:pt x="3138199" y="268097"/>
                    <a:pt x="3109109" y="297187"/>
                    <a:pt x="3073225" y="297187"/>
                  </a:cubicBezTo>
                  <a:lnTo>
                    <a:pt x="64974" y="297187"/>
                  </a:lnTo>
                  <a:cubicBezTo>
                    <a:pt x="47742" y="297187"/>
                    <a:pt x="31216" y="290342"/>
                    <a:pt x="19031" y="278157"/>
                  </a:cubicBezTo>
                  <a:cubicBezTo>
                    <a:pt x="6845" y="265972"/>
                    <a:pt x="0" y="249445"/>
                    <a:pt x="0" y="232213"/>
                  </a:cubicBezTo>
                  <a:lnTo>
                    <a:pt x="0" y="64974"/>
                  </a:lnTo>
                  <a:cubicBezTo>
                    <a:pt x="0" y="47742"/>
                    <a:pt x="6845" y="31216"/>
                    <a:pt x="19031" y="19031"/>
                  </a:cubicBezTo>
                  <a:cubicBezTo>
                    <a:pt x="31216" y="6845"/>
                    <a:pt x="47742" y="0"/>
                    <a:pt x="64974" y="0"/>
                  </a:cubicBezTo>
                  <a:close/>
                </a:path>
              </a:pathLst>
            </a:custGeom>
            <a:solidFill>
              <a:srgbClr val="EAF2FF"/>
            </a:solidFill>
          </p:spPr>
        </p:sp>
        <p:sp>
          <p:nvSpPr>
            <p:cNvPr id="4" name="TextBox 4"/>
            <p:cNvSpPr txBox="1"/>
            <p:nvPr/>
          </p:nvSpPr>
          <p:spPr>
            <a:xfrm>
              <a:off x="0" y="-57150"/>
              <a:ext cx="3138199" cy="354337"/>
            </a:xfrm>
            <a:prstGeom prst="rect">
              <a:avLst/>
            </a:prstGeom>
          </p:spPr>
          <p:txBody>
            <a:bodyPr lIns="50800" tIns="50800" rIns="50800" bIns="50800" rtlCol="0" anchor="ctr"/>
            <a:lstStyle/>
            <a:p>
              <a:pPr algn="ctr">
                <a:lnSpc>
                  <a:spcPts val="3584"/>
                </a:lnSpc>
              </a:pPr>
              <a:endParaRPr/>
            </a:p>
          </p:txBody>
        </p:sp>
      </p:grpSp>
      <p:grpSp>
        <p:nvGrpSpPr>
          <p:cNvPr id="5" name="Group 5"/>
          <p:cNvGrpSpPr/>
          <p:nvPr/>
        </p:nvGrpSpPr>
        <p:grpSpPr>
          <a:xfrm>
            <a:off x="0" y="9492721"/>
            <a:ext cx="18288000" cy="794279"/>
            <a:chOff x="0" y="0"/>
            <a:chExt cx="4816593" cy="209193"/>
          </a:xfrm>
        </p:grpSpPr>
        <p:sp>
          <p:nvSpPr>
            <p:cNvPr id="6" name="Freeform 6"/>
            <p:cNvSpPr/>
            <p:nvPr/>
          </p:nvSpPr>
          <p:spPr>
            <a:xfrm>
              <a:off x="0" y="0"/>
              <a:ext cx="4816592" cy="209193"/>
            </a:xfrm>
            <a:custGeom>
              <a:avLst/>
              <a:gdLst/>
              <a:ahLst/>
              <a:cxnLst/>
              <a:rect l="l" t="t" r="r" b="b"/>
              <a:pathLst>
                <a:path w="4816592" h="209193">
                  <a:moveTo>
                    <a:pt x="0" y="0"/>
                  </a:moveTo>
                  <a:lnTo>
                    <a:pt x="4816592" y="0"/>
                  </a:lnTo>
                  <a:lnTo>
                    <a:pt x="4816592" y="209193"/>
                  </a:lnTo>
                  <a:lnTo>
                    <a:pt x="0" y="209193"/>
                  </a:lnTo>
                  <a:close/>
                </a:path>
              </a:pathLst>
            </a:custGeom>
            <a:gradFill rotWithShape="1">
              <a:gsLst>
                <a:gs pos="0">
                  <a:srgbClr val="E9F2FF">
                    <a:alpha val="100000"/>
                  </a:srgbClr>
                </a:gs>
                <a:gs pos="100000">
                  <a:srgbClr val="A5C1F0">
                    <a:alpha val="100000"/>
                  </a:srgbClr>
                </a:gs>
              </a:gsLst>
              <a:lin ang="0"/>
            </a:gradFill>
          </p:spPr>
        </p:sp>
        <p:sp>
          <p:nvSpPr>
            <p:cNvPr id="7" name="TextBox 7"/>
            <p:cNvSpPr txBox="1"/>
            <p:nvPr/>
          </p:nvSpPr>
          <p:spPr>
            <a:xfrm>
              <a:off x="0" y="-57150"/>
              <a:ext cx="4816593" cy="266343"/>
            </a:xfrm>
            <a:prstGeom prst="rect">
              <a:avLst/>
            </a:prstGeom>
          </p:spPr>
          <p:txBody>
            <a:bodyPr lIns="50800" tIns="50800" rIns="50800" bIns="50800" rtlCol="0" anchor="ctr"/>
            <a:lstStyle/>
            <a:p>
              <a:pPr algn="ctr">
                <a:lnSpc>
                  <a:spcPts val="3584"/>
                </a:lnSpc>
              </a:pPr>
              <a:r>
                <a:rPr lang="en-US" sz="2560" b="1">
                  <a:solidFill>
                    <a:srgbClr val="000000"/>
                  </a:solidFill>
                  <a:latin typeface="Body Grotesque Fit Bold"/>
                  <a:ea typeface="Body Grotesque Fit Bold"/>
                  <a:cs typeface="Body Grotesque Fit Bold"/>
                  <a:sym typeface="Body Grotesque Fit Bold"/>
                </a:rPr>
                <a:t>¿Cómo se ve al utilizarlo?</a:t>
              </a:r>
            </a:p>
          </p:txBody>
        </p:sp>
      </p:grpSp>
      <p:sp>
        <p:nvSpPr>
          <p:cNvPr id="8" name="TextBox 8"/>
          <p:cNvSpPr txBox="1"/>
          <p:nvPr/>
        </p:nvSpPr>
        <p:spPr>
          <a:xfrm>
            <a:off x="930128" y="3261140"/>
            <a:ext cx="15911533" cy="1180465"/>
          </a:xfrm>
          <a:prstGeom prst="rect">
            <a:avLst/>
          </a:prstGeom>
        </p:spPr>
        <p:txBody>
          <a:bodyPr lIns="0" tIns="0" rIns="0" bIns="0" rtlCol="0" anchor="t">
            <a:spAutoFit/>
          </a:bodyPr>
          <a:lstStyle/>
          <a:p>
            <a:pPr algn="just">
              <a:lnSpc>
                <a:spcPts val="4759"/>
              </a:lnSpc>
            </a:pPr>
            <a:r>
              <a:rPr lang="en-US" sz="3399" b="1">
                <a:solidFill>
                  <a:srgbClr val="6B7280"/>
                </a:solidFill>
                <a:latin typeface="Body Grotesque Fit Bold"/>
                <a:ea typeface="Body Grotesque Fit Bold"/>
                <a:cs typeface="Body Grotesque Fit Bold"/>
                <a:sym typeface="Body Grotesque Fit Bold"/>
              </a:rPr>
              <a:t>UI ó interfaz de usuario</a:t>
            </a:r>
            <a:r>
              <a:rPr lang="en-US" sz="3399">
                <a:solidFill>
                  <a:srgbClr val="6B7280"/>
                </a:solidFill>
                <a:latin typeface="Body Grotesque Fit"/>
                <a:ea typeface="Body Grotesque Fit"/>
                <a:cs typeface="Body Grotesque Fit"/>
                <a:sym typeface="Body Grotesque Fit"/>
              </a:rPr>
              <a:t> se refiere a todos los elementos visuales que va a tener el sistema y con los cuáles va a interactuar el usuario final.</a:t>
            </a:r>
          </a:p>
        </p:txBody>
      </p:sp>
      <p:sp>
        <p:nvSpPr>
          <p:cNvPr id="9" name="TextBox 9"/>
          <p:cNvSpPr txBox="1"/>
          <p:nvPr/>
        </p:nvSpPr>
        <p:spPr>
          <a:xfrm>
            <a:off x="930128" y="1582321"/>
            <a:ext cx="887176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UI - INTERFAZ DE USUARIO</a:t>
            </a:r>
          </a:p>
        </p:txBody>
      </p:sp>
      <p:sp>
        <p:nvSpPr>
          <p:cNvPr id="10" name="TextBox 10"/>
          <p:cNvSpPr txBox="1"/>
          <p:nvPr/>
        </p:nvSpPr>
        <p:spPr>
          <a:xfrm>
            <a:off x="1028700" y="4826056"/>
            <a:ext cx="3181037"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COLORES</a:t>
            </a:r>
          </a:p>
        </p:txBody>
      </p:sp>
      <p:sp>
        <p:nvSpPr>
          <p:cNvPr id="11" name="TextBox 11"/>
          <p:cNvSpPr txBox="1"/>
          <p:nvPr/>
        </p:nvSpPr>
        <p:spPr>
          <a:xfrm>
            <a:off x="1028700" y="5932226"/>
            <a:ext cx="4741344"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TIPOGRAFÍAS</a:t>
            </a:r>
          </a:p>
        </p:txBody>
      </p:sp>
      <p:sp>
        <p:nvSpPr>
          <p:cNvPr id="12" name="TextBox 12"/>
          <p:cNvSpPr txBox="1"/>
          <p:nvPr/>
        </p:nvSpPr>
        <p:spPr>
          <a:xfrm>
            <a:off x="1028700" y="7038396"/>
            <a:ext cx="4741344"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ICONOGRAFÍA</a:t>
            </a:r>
          </a:p>
        </p:txBody>
      </p:sp>
      <p:sp>
        <p:nvSpPr>
          <p:cNvPr id="13" name="TextBox 13"/>
          <p:cNvSpPr txBox="1"/>
          <p:nvPr/>
        </p:nvSpPr>
        <p:spPr>
          <a:xfrm>
            <a:off x="10189505" y="4826056"/>
            <a:ext cx="3791367"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ESPACIADO </a:t>
            </a:r>
          </a:p>
        </p:txBody>
      </p:sp>
      <p:sp>
        <p:nvSpPr>
          <p:cNvPr id="14" name="TextBox 14"/>
          <p:cNvSpPr txBox="1"/>
          <p:nvPr/>
        </p:nvSpPr>
        <p:spPr>
          <a:xfrm>
            <a:off x="10189505" y="8144566"/>
            <a:ext cx="7506384"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COMPOSICIÓN VISUAL</a:t>
            </a:r>
          </a:p>
        </p:txBody>
      </p:sp>
      <p:sp>
        <p:nvSpPr>
          <p:cNvPr id="15" name="TextBox 15"/>
          <p:cNvSpPr txBox="1"/>
          <p:nvPr/>
        </p:nvSpPr>
        <p:spPr>
          <a:xfrm>
            <a:off x="1028700" y="8144566"/>
            <a:ext cx="656170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JERARQUÍA VISUAL</a:t>
            </a:r>
          </a:p>
        </p:txBody>
      </p:sp>
      <p:sp>
        <p:nvSpPr>
          <p:cNvPr id="16" name="TextBox 16"/>
          <p:cNvSpPr txBox="1"/>
          <p:nvPr/>
        </p:nvSpPr>
        <p:spPr>
          <a:xfrm>
            <a:off x="10156261" y="5932226"/>
            <a:ext cx="7103039"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SISTEMA DE CAJAS</a:t>
            </a:r>
          </a:p>
        </p:txBody>
      </p:sp>
      <p:sp>
        <p:nvSpPr>
          <p:cNvPr id="17" name="TextBox 17"/>
          <p:cNvSpPr txBox="1"/>
          <p:nvPr/>
        </p:nvSpPr>
        <p:spPr>
          <a:xfrm>
            <a:off x="10189505" y="7038396"/>
            <a:ext cx="7103039"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SISTEMA DE GRILLAS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4484019" cy="1128383"/>
            <a:chOff x="0" y="0"/>
            <a:chExt cx="3814721" cy="297187"/>
          </a:xfrm>
        </p:grpSpPr>
        <p:sp>
          <p:nvSpPr>
            <p:cNvPr id="3" name="Freeform 3"/>
            <p:cNvSpPr/>
            <p:nvPr/>
          </p:nvSpPr>
          <p:spPr>
            <a:xfrm>
              <a:off x="0" y="0"/>
              <a:ext cx="3814721" cy="297187"/>
            </a:xfrm>
            <a:custGeom>
              <a:avLst/>
              <a:gdLst/>
              <a:ahLst/>
              <a:cxnLst/>
              <a:rect l="l" t="t" r="r" b="b"/>
              <a:pathLst>
                <a:path w="3814721" h="297187">
                  <a:moveTo>
                    <a:pt x="53451" y="0"/>
                  </a:moveTo>
                  <a:lnTo>
                    <a:pt x="3761270" y="0"/>
                  </a:lnTo>
                  <a:cubicBezTo>
                    <a:pt x="3790790" y="0"/>
                    <a:pt x="3814721" y="23931"/>
                    <a:pt x="3814721" y="53451"/>
                  </a:cubicBezTo>
                  <a:lnTo>
                    <a:pt x="3814721" y="243736"/>
                  </a:lnTo>
                  <a:cubicBezTo>
                    <a:pt x="3814721" y="273256"/>
                    <a:pt x="3790790" y="297187"/>
                    <a:pt x="3761270" y="297187"/>
                  </a:cubicBezTo>
                  <a:lnTo>
                    <a:pt x="53451" y="297187"/>
                  </a:lnTo>
                  <a:cubicBezTo>
                    <a:pt x="23931" y="297187"/>
                    <a:pt x="0" y="273256"/>
                    <a:pt x="0" y="243736"/>
                  </a:cubicBezTo>
                  <a:lnTo>
                    <a:pt x="0" y="53451"/>
                  </a:lnTo>
                  <a:cubicBezTo>
                    <a:pt x="0" y="23931"/>
                    <a:pt x="23931" y="0"/>
                    <a:pt x="53451" y="0"/>
                  </a:cubicBezTo>
                  <a:close/>
                </a:path>
              </a:pathLst>
            </a:custGeom>
            <a:solidFill>
              <a:srgbClr val="EAF2FF"/>
            </a:solidFill>
          </p:spPr>
        </p:sp>
        <p:sp>
          <p:nvSpPr>
            <p:cNvPr id="4" name="TextBox 4"/>
            <p:cNvSpPr txBox="1"/>
            <p:nvPr/>
          </p:nvSpPr>
          <p:spPr>
            <a:xfrm>
              <a:off x="0" y="-57150"/>
              <a:ext cx="3814721" cy="354337"/>
            </a:xfrm>
            <a:prstGeom prst="rect">
              <a:avLst/>
            </a:prstGeom>
          </p:spPr>
          <p:txBody>
            <a:bodyPr lIns="50800" tIns="50800" rIns="50800" bIns="50800" rtlCol="0" anchor="ctr"/>
            <a:lstStyle/>
            <a:p>
              <a:pPr algn="ctr">
                <a:lnSpc>
                  <a:spcPts val="3584"/>
                </a:lnSpc>
              </a:pPr>
              <a:endParaRPr/>
            </a:p>
          </p:txBody>
        </p:sp>
      </p:grpSp>
      <p:sp>
        <p:nvSpPr>
          <p:cNvPr id="5" name="TextBox 5"/>
          <p:cNvSpPr txBox="1"/>
          <p:nvPr/>
        </p:nvSpPr>
        <p:spPr>
          <a:xfrm>
            <a:off x="930128" y="1582321"/>
            <a:ext cx="1038961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UX - EXPERIENCIA DE USUARIO</a:t>
            </a:r>
          </a:p>
        </p:txBody>
      </p:sp>
      <p:sp>
        <p:nvSpPr>
          <p:cNvPr id="6" name="TextBox 6"/>
          <p:cNvSpPr txBox="1"/>
          <p:nvPr/>
        </p:nvSpPr>
        <p:spPr>
          <a:xfrm>
            <a:off x="930128" y="2976552"/>
            <a:ext cx="15911533" cy="1180465"/>
          </a:xfrm>
          <a:prstGeom prst="rect">
            <a:avLst/>
          </a:prstGeom>
        </p:spPr>
        <p:txBody>
          <a:bodyPr lIns="0" tIns="0" rIns="0" bIns="0" rtlCol="0" anchor="t">
            <a:spAutoFit/>
          </a:bodyPr>
          <a:lstStyle/>
          <a:p>
            <a:pPr algn="just">
              <a:lnSpc>
                <a:spcPts val="4759"/>
              </a:lnSpc>
            </a:pPr>
            <a:r>
              <a:rPr lang="en-US" sz="3399" b="1">
                <a:solidFill>
                  <a:srgbClr val="6B7280"/>
                </a:solidFill>
                <a:latin typeface="Body Grotesque Fit Bold"/>
                <a:ea typeface="Body Grotesque Fit Bold"/>
                <a:cs typeface="Body Grotesque Fit Bold"/>
                <a:sym typeface="Body Grotesque Fit Bold"/>
              </a:rPr>
              <a:t>UX ó experiencia de usuario, </a:t>
            </a:r>
            <a:r>
              <a:rPr lang="en-US" sz="3399">
                <a:solidFill>
                  <a:srgbClr val="6B7280"/>
                </a:solidFill>
                <a:latin typeface="Body Grotesque Fit"/>
                <a:ea typeface="Body Grotesque Fit"/>
                <a:cs typeface="Body Grotesque Fit"/>
                <a:sym typeface="Body Grotesque Fit"/>
              </a:rPr>
              <a:t>está relacionada con con las percepciones, emociones y respuestas que va a tener el usuario al utilizar el sistema.</a:t>
            </a:r>
          </a:p>
        </p:txBody>
      </p:sp>
      <p:sp>
        <p:nvSpPr>
          <p:cNvPr id="7" name="TextBox 7"/>
          <p:cNvSpPr txBox="1"/>
          <p:nvPr/>
        </p:nvSpPr>
        <p:spPr>
          <a:xfrm>
            <a:off x="9419909" y="4633267"/>
            <a:ext cx="5452504"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NAVEGABILIDAD</a:t>
            </a:r>
          </a:p>
        </p:txBody>
      </p:sp>
      <p:sp>
        <p:nvSpPr>
          <p:cNvPr id="8" name="TextBox 8"/>
          <p:cNvSpPr txBox="1"/>
          <p:nvPr/>
        </p:nvSpPr>
        <p:spPr>
          <a:xfrm>
            <a:off x="2544950" y="5996612"/>
            <a:ext cx="4400341"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USABILIDAD</a:t>
            </a:r>
          </a:p>
        </p:txBody>
      </p:sp>
      <p:sp>
        <p:nvSpPr>
          <p:cNvPr id="9" name="TextBox 9"/>
          <p:cNvSpPr txBox="1"/>
          <p:nvPr/>
        </p:nvSpPr>
        <p:spPr>
          <a:xfrm>
            <a:off x="2544950" y="4633267"/>
            <a:ext cx="346383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UTILIDAD</a:t>
            </a:r>
          </a:p>
        </p:txBody>
      </p:sp>
      <p:sp>
        <p:nvSpPr>
          <p:cNvPr id="10" name="TextBox 10"/>
          <p:cNvSpPr txBox="1"/>
          <p:nvPr/>
        </p:nvSpPr>
        <p:spPr>
          <a:xfrm>
            <a:off x="6008787" y="7666431"/>
            <a:ext cx="5383517"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ACCESIBILIDAD</a:t>
            </a:r>
          </a:p>
        </p:txBody>
      </p:sp>
      <p:sp>
        <p:nvSpPr>
          <p:cNvPr id="11" name="TextBox 11"/>
          <p:cNvSpPr txBox="1"/>
          <p:nvPr/>
        </p:nvSpPr>
        <p:spPr>
          <a:xfrm>
            <a:off x="9419909" y="5996612"/>
            <a:ext cx="7268221"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IMPACTO EMOCIONAL</a:t>
            </a:r>
          </a:p>
        </p:txBody>
      </p:sp>
      <p:grpSp>
        <p:nvGrpSpPr>
          <p:cNvPr id="12" name="Group 12"/>
          <p:cNvGrpSpPr/>
          <p:nvPr/>
        </p:nvGrpSpPr>
        <p:grpSpPr>
          <a:xfrm>
            <a:off x="0" y="9492721"/>
            <a:ext cx="18288000" cy="794279"/>
            <a:chOff x="0" y="0"/>
            <a:chExt cx="4816593" cy="209193"/>
          </a:xfrm>
        </p:grpSpPr>
        <p:sp>
          <p:nvSpPr>
            <p:cNvPr id="13" name="Freeform 13"/>
            <p:cNvSpPr/>
            <p:nvPr/>
          </p:nvSpPr>
          <p:spPr>
            <a:xfrm>
              <a:off x="0" y="0"/>
              <a:ext cx="4816592" cy="209193"/>
            </a:xfrm>
            <a:custGeom>
              <a:avLst/>
              <a:gdLst/>
              <a:ahLst/>
              <a:cxnLst/>
              <a:rect l="l" t="t" r="r" b="b"/>
              <a:pathLst>
                <a:path w="4816592" h="209193">
                  <a:moveTo>
                    <a:pt x="0" y="0"/>
                  </a:moveTo>
                  <a:lnTo>
                    <a:pt x="4816592" y="0"/>
                  </a:lnTo>
                  <a:lnTo>
                    <a:pt x="4816592" y="209193"/>
                  </a:lnTo>
                  <a:lnTo>
                    <a:pt x="0" y="209193"/>
                  </a:lnTo>
                  <a:close/>
                </a:path>
              </a:pathLst>
            </a:custGeom>
            <a:gradFill rotWithShape="1">
              <a:gsLst>
                <a:gs pos="0">
                  <a:srgbClr val="E9F2FF">
                    <a:alpha val="100000"/>
                  </a:srgbClr>
                </a:gs>
                <a:gs pos="100000">
                  <a:srgbClr val="A5C1F0">
                    <a:alpha val="100000"/>
                  </a:srgbClr>
                </a:gs>
              </a:gsLst>
              <a:lin ang="0"/>
            </a:gradFill>
          </p:spPr>
        </p:sp>
        <p:sp>
          <p:nvSpPr>
            <p:cNvPr id="14" name="TextBox 14"/>
            <p:cNvSpPr txBox="1"/>
            <p:nvPr/>
          </p:nvSpPr>
          <p:spPr>
            <a:xfrm>
              <a:off x="0" y="-57150"/>
              <a:ext cx="4816593" cy="266343"/>
            </a:xfrm>
            <a:prstGeom prst="rect">
              <a:avLst/>
            </a:prstGeom>
          </p:spPr>
          <p:txBody>
            <a:bodyPr lIns="50800" tIns="50800" rIns="50800" bIns="50800" rtlCol="0" anchor="ctr"/>
            <a:lstStyle/>
            <a:p>
              <a:pPr algn="ctr">
                <a:lnSpc>
                  <a:spcPts val="3584"/>
                </a:lnSpc>
              </a:pPr>
              <a:r>
                <a:rPr lang="en-US" sz="2560" b="1">
                  <a:solidFill>
                    <a:srgbClr val="000000"/>
                  </a:solidFill>
                  <a:latin typeface="Body Grotesque Fit Bold"/>
                  <a:ea typeface="Body Grotesque Fit Bold"/>
                  <a:cs typeface="Body Grotesque Fit Bold"/>
                  <a:sym typeface="Body Grotesque Fit Bold"/>
                </a:rPr>
                <a:t>¿Cómo funciona y qué impacto tiene en el usuario?</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2418" y="335178"/>
            <a:ext cx="11915351" cy="1128383"/>
            <a:chOff x="0" y="0"/>
            <a:chExt cx="3138199" cy="297187"/>
          </a:xfrm>
        </p:grpSpPr>
        <p:sp>
          <p:nvSpPr>
            <p:cNvPr id="3" name="Freeform 3"/>
            <p:cNvSpPr/>
            <p:nvPr/>
          </p:nvSpPr>
          <p:spPr>
            <a:xfrm>
              <a:off x="0" y="0"/>
              <a:ext cx="3138199" cy="297187"/>
            </a:xfrm>
            <a:custGeom>
              <a:avLst/>
              <a:gdLst/>
              <a:ahLst/>
              <a:cxnLst/>
              <a:rect l="l" t="t" r="r" b="b"/>
              <a:pathLst>
                <a:path w="3138199" h="297187">
                  <a:moveTo>
                    <a:pt x="64974" y="0"/>
                  </a:moveTo>
                  <a:lnTo>
                    <a:pt x="3073225" y="0"/>
                  </a:lnTo>
                  <a:cubicBezTo>
                    <a:pt x="3090457" y="0"/>
                    <a:pt x="3106984" y="6845"/>
                    <a:pt x="3119169" y="19031"/>
                  </a:cubicBezTo>
                  <a:cubicBezTo>
                    <a:pt x="3131354" y="31216"/>
                    <a:pt x="3138199" y="47742"/>
                    <a:pt x="3138199" y="64974"/>
                  </a:cubicBezTo>
                  <a:lnTo>
                    <a:pt x="3138199" y="232213"/>
                  </a:lnTo>
                  <a:cubicBezTo>
                    <a:pt x="3138199" y="268097"/>
                    <a:pt x="3109109" y="297187"/>
                    <a:pt x="3073225" y="297187"/>
                  </a:cubicBezTo>
                  <a:lnTo>
                    <a:pt x="64974" y="297187"/>
                  </a:lnTo>
                  <a:cubicBezTo>
                    <a:pt x="47742" y="297187"/>
                    <a:pt x="31216" y="290342"/>
                    <a:pt x="19031" y="278157"/>
                  </a:cubicBezTo>
                  <a:cubicBezTo>
                    <a:pt x="6845" y="265972"/>
                    <a:pt x="0" y="249445"/>
                    <a:pt x="0" y="232213"/>
                  </a:cubicBezTo>
                  <a:lnTo>
                    <a:pt x="0" y="64974"/>
                  </a:lnTo>
                  <a:cubicBezTo>
                    <a:pt x="0" y="47742"/>
                    <a:pt x="6845" y="31216"/>
                    <a:pt x="19031" y="19031"/>
                  </a:cubicBezTo>
                  <a:cubicBezTo>
                    <a:pt x="31216" y="6845"/>
                    <a:pt x="47742" y="0"/>
                    <a:pt x="64974" y="0"/>
                  </a:cubicBezTo>
                  <a:close/>
                </a:path>
              </a:pathLst>
            </a:custGeom>
            <a:solidFill>
              <a:srgbClr val="EAF2FF"/>
            </a:solidFill>
          </p:spPr>
        </p:sp>
        <p:sp>
          <p:nvSpPr>
            <p:cNvPr id="4" name="TextBox 4"/>
            <p:cNvSpPr txBox="1"/>
            <p:nvPr/>
          </p:nvSpPr>
          <p:spPr>
            <a:xfrm>
              <a:off x="0" y="-57150"/>
              <a:ext cx="3138199"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930128" y="3704813"/>
            <a:ext cx="8508280" cy="4785907"/>
          </a:xfrm>
          <a:custGeom>
            <a:avLst/>
            <a:gdLst/>
            <a:ahLst/>
            <a:cxnLst/>
            <a:rect l="l" t="t" r="r" b="b"/>
            <a:pathLst>
              <a:path w="8508280" h="4785907">
                <a:moveTo>
                  <a:pt x="0" y="0"/>
                </a:moveTo>
                <a:lnTo>
                  <a:pt x="8508279" y="0"/>
                </a:lnTo>
                <a:lnTo>
                  <a:pt x="8508279" y="4785907"/>
                </a:lnTo>
                <a:lnTo>
                  <a:pt x="0" y="4785907"/>
                </a:lnTo>
                <a:lnTo>
                  <a:pt x="0" y="0"/>
                </a:lnTo>
                <a:close/>
              </a:path>
            </a:pathLst>
          </a:custGeom>
          <a:blipFill>
            <a:blip r:embed="rId2"/>
            <a:stretch>
              <a:fillRect/>
            </a:stretch>
          </a:blipFill>
        </p:spPr>
      </p:sp>
      <p:sp>
        <p:nvSpPr>
          <p:cNvPr id="6" name="TextBox 6"/>
          <p:cNvSpPr txBox="1"/>
          <p:nvPr/>
        </p:nvSpPr>
        <p:spPr>
          <a:xfrm>
            <a:off x="930128" y="2336192"/>
            <a:ext cx="15911533" cy="580390"/>
          </a:xfrm>
          <a:prstGeom prst="rect">
            <a:avLst/>
          </a:prstGeom>
        </p:spPr>
        <p:txBody>
          <a:bodyPr lIns="0" tIns="0" rIns="0" bIns="0" rtlCol="0" anchor="t">
            <a:spAutoFit/>
          </a:bodyPr>
          <a:lstStyle/>
          <a:p>
            <a:pPr algn="l">
              <a:lnSpc>
                <a:spcPts val="4759"/>
              </a:lnSpc>
            </a:pPr>
            <a:r>
              <a:rPr lang="en-US" sz="3399">
                <a:solidFill>
                  <a:srgbClr val="6B7280"/>
                </a:solidFill>
                <a:latin typeface="Body Grotesque Fit"/>
                <a:ea typeface="Body Grotesque Fit"/>
                <a:cs typeface="Body Grotesque Fit"/>
                <a:sym typeface="Body Grotesque Fit"/>
              </a:rPr>
              <a:t>Por ej: Empleado registra venta para el almacén del barrio</a:t>
            </a:r>
          </a:p>
        </p:txBody>
      </p:sp>
      <p:sp>
        <p:nvSpPr>
          <p:cNvPr id="7" name="TextBox 7"/>
          <p:cNvSpPr txBox="1"/>
          <p:nvPr/>
        </p:nvSpPr>
        <p:spPr>
          <a:xfrm>
            <a:off x="900223" y="408196"/>
            <a:ext cx="887176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ENCONTRAR EL BALANCE</a:t>
            </a:r>
          </a:p>
        </p:txBody>
      </p:sp>
      <p:sp>
        <p:nvSpPr>
          <p:cNvPr id="8" name="TextBox 8"/>
          <p:cNvSpPr txBox="1"/>
          <p:nvPr/>
        </p:nvSpPr>
        <p:spPr>
          <a:xfrm>
            <a:off x="900223" y="1738110"/>
            <a:ext cx="15911533" cy="580390"/>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Depende del cliente! → </a:t>
            </a:r>
            <a:r>
              <a:rPr lang="en-US" sz="3399" b="1">
                <a:solidFill>
                  <a:srgbClr val="6B7280"/>
                </a:solidFill>
                <a:latin typeface="Body Grotesque Fit Bold"/>
                <a:ea typeface="Body Grotesque Fit Bold"/>
                <a:cs typeface="Body Grotesque Fit Bold"/>
                <a:sym typeface="Body Grotesque Fit Bold"/>
              </a:rPr>
              <a:t>Comunicación eficiente!</a:t>
            </a:r>
          </a:p>
        </p:txBody>
      </p:sp>
      <p:grpSp>
        <p:nvGrpSpPr>
          <p:cNvPr id="9" name="Group 9"/>
          <p:cNvGrpSpPr/>
          <p:nvPr/>
        </p:nvGrpSpPr>
        <p:grpSpPr>
          <a:xfrm>
            <a:off x="9771986" y="6456903"/>
            <a:ext cx="7769547" cy="2362795"/>
            <a:chOff x="0" y="0"/>
            <a:chExt cx="10359395" cy="3150394"/>
          </a:xfrm>
        </p:grpSpPr>
        <p:grpSp>
          <p:nvGrpSpPr>
            <p:cNvPr id="10" name="Group 10"/>
            <p:cNvGrpSpPr/>
            <p:nvPr/>
          </p:nvGrpSpPr>
          <p:grpSpPr>
            <a:xfrm>
              <a:off x="0" y="989753"/>
              <a:ext cx="10359395" cy="927920"/>
              <a:chOff x="0" y="0"/>
              <a:chExt cx="2046300" cy="183293"/>
            </a:xfrm>
          </p:grpSpPr>
          <p:sp>
            <p:nvSpPr>
              <p:cNvPr id="11" name="Freeform 11"/>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FEF2D9"/>
              </a:solidFill>
            </p:spPr>
          </p:sp>
          <p:sp>
            <p:nvSpPr>
              <p:cNvPr id="12" name="TextBox 12"/>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13" name="Group 13"/>
            <p:cNvGrpSpPr/>
            <p:nvPr/>
          </p:nvGrpSpPr>
          <p:grpSpPr>
            <a:xfrm>
              <a:off x="81212" y="1031249"/>
              <a:ext cx="844929" cy="84492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C56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16" name="TextBox 16"/>
            <p:cNvSpPr txBox="1"/>
            <p:nvPr/>
          </p:nvSpPr>
          <p:spPr>
            <a:xfrm>
              <a:off x="1306437" y="1204637"/>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4 pasos para realizar una venta sencilla?</a:t>
              </a:r>
            </a:p>
          </p:txBody>
        </p:sp>
        <p:sp>
          <p:nvSpPr>
            <p:cNvPr id="17" name="Freeform 17"/>
            <p:cNvSpPr/>
            <p:nvPr/>
          </p:nvSpPr>
          <p:spPr>
            <a:xfrm>
              <a:off x="284694" y="1249244"/>
              <a:ext cx="413069" cy="408938"/>
            </a:xfrm>
            <a:custGeom>
              <a:avLst/>
              <a:gdLst/>
              <a:ahLst/>
              <a:cxnLst/>
              <a:rect l="l" t="t" r="r" b="b"/>
              <a:pathLst>
                <a:path w="413069" h="408938">
                  <a:moveTo>
                    <a:pt x="0" y="0"/>
                  </a:moveTo>
                  <a:lnTo>
                    <a:pt x="413069" y="0"/>
                  </a:lnTo>
                  <a:lnTo>
                    <a:pt x="413069" y="408939"/>
                  </a:lnTo>
                  <a:lnTo>
                    <a:pt x="0" y="4089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8" name="Group 18"/>
            <p:cNvGrpSpPr/>
            <p:nvPr/>
          </p:nvGrpSpPr>
          <p:grpSpPr>
            <a:xfrm>
              <a:off x="0" y="2222474"/>
              <a:ext cx="10359395" cy="927920"/>
              <a:chOff x="0" y="0"/>
              <a:chExt cx="2046300" cy="183293"/>
            </a:xfrm>
          </p:grpSpPr>
          <p:sp>
            <p:nvSpPr>
              <p:cNvPr id="19" name="Freeform 19"/>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FEF2D9"/>
              </a:solidFill>
            </p:spPr>
          </p:sp>
          <p:sp>
            <p:nvSpPr>
              <p:cNvPr id="20" name="TextBox 20"/>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21" name="Group 21"/>
            <p:cNvGrpSpPr/>
            <p:nvPr/>
          </p:nvGrpSpPr>
          <p:grpSpPr>
            <a:xfrm>
              <a:off x="81212" y="2263969"/>
              <a:ext cx="844929" cy="84492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C560"/>
              </a:solidFill>
            </p:spPr>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24" name="TextBox 24"/>
            <p:cNvSpPr txBox="1"/>
            <p:nvPr/>
          </p:nvSpPr>
          <p:spPr>
            <a:xfrm>
              <a:off x="1306437" y="2437357"/>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Poco práctico para el almacén del barrio</a:t>
              </a:r>
            </a:p>
          </p:txBody>
        </p:sp>
        <p:sp>
          <p:nvSpPr>
            <p:cNvPr id="25" name="Freeform 25"/>
            <p:cNvSpPr/>
            <p:nvPr/>
          </p:nvSpPr>
          <p:spPr>
            <a:xfrm>
              <a:off x="284694" y="2481965"/>
              <a:ext cx="413069" cy="408938"/>
            </a:xfrm>
            <a:custGeom>
              <a:avLst/>
              <a:gdLst/>
              <a:ahLst/>
              <a:cxnLst/>
              <a:rect l="l" t="t" r="r" b="b"/>
              <a:pathLst>
                <a:path w="413069" h="408938">
                  <a:moveTo>
                    <a:pt x="0" y="0"/>
                  </a:moveTo>
                  <a:lnTo>
                    <a:pt x="413069" y="0"/>
                  </a:lnTo>
                  <a:lnTo>
                    <a:pt x="413069" y="408938"/>
                  </a:lnTo>
                  <a:lnTo>
                    <a:pt x="0" y="4089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6" name="TextBox 26"/>
            <p:cNvSpPr txBox="1"/>
            <p:nvPr/>
          </p:nvSpPr>
          <p:spPr>
            <a:xfrm>
              <a:off x="0" y="-66675"/>
              <a:ext cx="7809149" cy="751628"/>
            </a:xfrm>
            <a:prstGeom prst="rect">
              <a:avLst/>
            </a:prstGeom>
          </p:spPr>
          <p:txBody>
            <a:bodyPr lIns="0" tIns="0" rIns="0" bIns="0" rtlCol="0" anchor="t">
              <a:spAutoFit/>
            </a:bodyPr>
            <a:lstStyle/>
            <a:p>
              <a:pPr algn="l">
                <a:lnSpc>
                  <a:spcPts val="4759"/>
                </a:lnSpc>
              </a:pPr>
              <a:r>
                <a:rPr lang="en-US" sz="3399" b="1">
                  <a:solidFill>
                    <a:srgbClr val="6B7280"/>
                  </a:solidFill>
                  <a:latin typeface="Body Grotesque Fit Bold"/>
                  <a:ea typeface="Body Grotesque Fit Bold"/>
                  <a:cs typeface="Body Grotesque Fit Bold"/>
                  <a:sym typeface="Body Grotesque Fit Bold"/>
                </a:rPr>
                <a:t>No tan buena experiencia</a:t>
              </a:r>
            </a:p>
          </p:txBody>
        </p:sp>
      </p:grpSp>
      <p:grpSp>
        <p:nvGrpSpPr>
          <p:cNvPr id="27" name="Group 27"/>
          <p:cNvGrpSpPr/>
          <p:nvPr/>
        </p:nvGrpSpPr>
        <p:grpSpPr>
          <a:xfrm>
            <a:off x="9771986" y="3704813"/>
            <a:ext cx="7769547" cy="2363228"/>
            <a:chOff x="0" y="0"/>
            <a:chExt cx="10359395" cy="3150970"/>
          </a:xfrm>
        </p:grpSpPr>
        <p:grpSp>
          <p:nvGrpSpPr>
            <p:cNvPr id="28" name="Group 28"/>
            <p:cNvGrpSpPr/>
            <p:nvPr/>
          </p:nvGrpSpPr>
          <p:grpSpPr>
            <a:xfrm>
              <a:off x="0" y="990330"/>
              <a:ext cx="10359395" cy="927920"/>
              <a:chOff x="0" y="0"/>
              <a:chExt cx="2046300" cy="183293"/>
            </a:xfrm>
          </p:grpSpPr>
          <p:sp>
            <p:nvSpPr>
              <p:cNvPr id="29" name="Freeform 29"/>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30" name="TextBox 30"/>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31" name="Group 31"/>
            <p:cNvGrpSpPr/>
            <p:nvPr/>
          </p:nvGrpSpPr>
          <p:grpSpPr>
            <a:xfrm>
              <a:off x="81212" y="1031825"/>
              <a:ext cx="844929" cy="844929"/>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33" name="TextBox 33"/>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34" name="TextBox 34"/>
            <p:cNvSpPr txBox="1"/>
            <p:nvPr/>
          </p:nvSpPr>
          <p:spPr>
            <a:xfrm>
              <a:off x="1306437" y="120521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Jerarquía visual</a:t>
              </a:r>
            </a:p>
          </p:txBody>
        </p:sp>
        <p:sp>
          <p:nvSpPr>
            <p:cNvPr id="35" name="Freeform 35"/>
            <p:cNvSpPr/>
            <p:nvPr/>
          </p:nvSpPr>
          <p:spPr>
            <a:xfrm>
              <a:off x="286514" y="1284777"/>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6" name="TextBox 36"/>
            <p:cNvSpPr txBox="1"/>
            <p:nvPr/>
          </p:nvSpPr>
          <p:spPr>
            <a:xfrm>
              <a:off x="0" y="-66675"/>
              <a:ext cx="4851732" cy="751628"/>
            </a:xfrm>
            <a:prstGeom prst="rect">
              <a:avLst/>
            </a:prstGeom>
          </p:spPr>
          <p:txBody>
            <a:bodyPr lIns="0" tIns="0" rIns="0" bIns="0" rtlCol="0" anchor="t">
              <a:spAutoFit/>
            </a:bodyPr>
            <a:lstStyle/>
            <a:p>
              <a:pPr algn="l">
                <a:lnSpc>
                  <a:spcPts val="4759"/>
                </a:lnSpc>
              </a:pPr>
              <a:r>
                <a:rPr lang="en-US" sz="3399" b="1">
                  <a:solidFill>
                    <a:srgbClr val="6B7280"/>
                  </a:solidFill>
                  <a:latin typeface="Body Grotesque Fit Bold"/>
                  <a:ea typeface="Body Grotesque Fit Bold"/>
                  <a:cs typeface="Body Grotesque Fit Bold"/>
                  <a:sym typeface="Body Grotesque Fit Bold"/>
                </a:rPr>
                <a:t>Buena interfaz</a:t>
              </a:r>
            </a:p>
          </p:txBody>
        </p:sp>
        <p:grpSp>
          <p:nvGrpSpPr>
            <p:cNvPr id="37" name="Group 37"/>
            <p:cNvGrpSpPr/>
            <p:nvPr/>
          </p:nvGrpSpPr>
          <p:grpSpPr>
            <a:xfrm>
              <a:off x="0" y="2223050"/>
              <a:ext cx="10359395" cy="927920"/>
              <a:chOff x="0" y="0"/>
              <a:chExt cx="2046300" cy="183293"/>
            </a:xfrm>
          </p:grpSpPr>
          <p:sp>
            <p:nvSpPr>
              <p:cNvPr id="38" name="Freeform 38"/>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39" name="TextBox 39"/>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40" name="Group 40"/>
            <p:cNvGrpSpPr/>
            <p:nvPr/>
          </p:nvGrpSpPr>
          <p:grpSpPr>
            <a:xfrm>
              <a:off x="81212" y="2264545"/>
              <a:ext cx="844929" cy="84492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42" name="TextBox 42"/>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43" name="TextBox 43"/>
            <p:cNvSpPr txBox="1"/>
            <p:nvPr/>
          </p:nvSpPr>
          <p:spPr>
            <a:xfrm>
              <a:off x="1306437" y="243793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Buen uso de componentes</a:t>
              </a:r>
            </a:p>
          </p:txBody>
        </p:sp>
        <p:sp>
          <p:nvSpPr>
            <p:cNvPr id="44" name="Freeform 44"/>
            <p:cNvSpPr/>
            <p:nvPr/>
          </p:nvSpPr>
          <p:spPr>
            <a:xfrm>
              <a:off x="286514" y="2515150"/>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2418" y="335178"/>
            <a:ext cx="11915351" cy="1128383"/>
            <a:chOff x="0" y="0"/>
            <a:chExt cx="3138199" cy="297187"/>
          </a:xfrm>
        </p:grpSpPr>
        <p:sp>
          <p:nvSpPr>
            <p:cNvPr id="3" name="Freeform 3"/>
            <p:cNvSpPr/>
            <p:nvPr/>
          </p:nvSpPr>
          <p:spPr>
            <a:xfrm>
              <a:off x="0" y="0"/>
              <a:ext cx="3138199" cy="297187"/>
            </a:xfrm>
            <a:custGeom>
              <a:avLst/>
              <a:gdLst/>
              <a:ahLst/>
              <a:cxnLst/>
              <a:rect l="l" t="t" r="r" b="b"/>
              <a:pathLst>
                <a:path w="3138199" h="297187">
                  <a:moveTo>
                    <a:pt x="64974" y="0"/>
                  </a:moveTo>
                  <a:lnTo>
                    <a:pt x="3073225" y="0"/>
                  </a:lnTo>
                  <a:cubicBezTo>
                    <a:pt x="3090457" y="0"/>
                    <a:pt x="3106984" y="6845"/>
                    <a:pt x="3119169" y="19031"/>
                  </a:cubicBezTo>
                  <a:cubicBezTo>
                    <a:pt x="3131354" y="31216"/>
                    <a:pt x="3138199" y="47742"/>
                    <a:pt x="3138199" y="64974"/>
                  </a:cubicBezTo>
                  <a:lnTo>
                    <a:pt x="3138199" y="232213"/>
                  </a:lnTo>
                  <a:cubicBezTo>
                    <a:pt x="3138199" y="268097"/>
                    <a:pt x="3109109" y="297187"/>
                    <a:pt x="3073225" y="297187"/>
                  </a:cubicBezTo>
                  <a:lnTo>
                    <a:pt x="64974" y="297187"/>
                  </a:lnTo>
                  <a:cubicBezTo>
                    <a:pt x="47742" y="297187"/>
                    <a:pt x="31216" y="290342"/>
                    <a:pt x="19031" y="278157"/>
                  </a:cubicBezTo>
                  <a:cubicBezTo>
                    <a:pt x="6845" y="265972"/>
                    <a:pt x="0" y="249445"/>
                    <a:pt x="0" y="232213"/>
                  </a:cubicBezTo>
                  <a:lnTo>
                    <a:pt x="0" y="64974"/>
                  </a:lnTo>
                  <a:cubicBezTo>
                    <a:pt x="0" y="47742"/>
                    <a:pt x="6845" y="31216"/>
                    <a:pt x="19031" y="19031"/>
                  </a:cubicBezTo>
                  <a:cubicBezTo>
                    <a:pt x="31216" y="6845"/>
                    <a:pt x="47742" y="0"/>
                    <a:pt x="64974" y="0"/>
                  </a:cubicBezTo>
                  <a:close/>
                </a:path>
              </a:pathLst>
            </a:custGeom>
            <a:solidFill>
              <a:srgbClr val="EAF2FF"/>
            </a:solidFill>
          </p:spPr>
        </p:sp>
        <p:sp>
          <p:nvSpPr>
            <p:cNvPr id="4" name="TextBox 4"/>
            <p:cNvSpPr txBox="1"/>
            <p:nvPr/>
          </p:nvSpPr>
          <p:spPr>
            <a:xfrm>
              <a:off x="0" y="-57150"/>
              <a:ext cx="3138199"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930128" y="3704813"/>
            <a:ext cx="8422238" cy="4737509"/>
          </a:xfrm>
          <a:custGeom>
            <a:avLst/>
            <a:gdLst/>
            <a:ahLst/>
            <a:cxnLst/>
            <a:rect l="l" t="t" r="r" b="b"/>
            <a:pathLst>
              <a:path w="8422238" h="4737509">
                <a:moveTo>
                  <a:pt x="0" y="0"/>
                </a:moveTo>
                <a:lnTo>
                  <a:pt x="8422237" y="0"/>
                </a:lnTo>
                <a:lnTo>
                  <a:pt x="8422237" y="4737508"/>
                </a:lnTo>
                <a:lnTo>
                  <a:pt x="0" y="4737508"/>
                </a:lnTo>
                <a:lnTo>
                  <a:pt x="0" y="0"/>
                </a:lnTo>
                <a:close/>
              </a:path>
            </a:pathLst>
          </a:custGeom>
          <a:blipFill>
            <a:blip r:embed="rId2"/>
            <a:stretch>
              <a:fillRect/>
            </a:stretch>
          </a:blipFill>
        </p:spPr>
      </p:sp>
      <p:sp>
        <p:nvSpPr>
          <p:cNvPr id="6" name="TextBox 6"/>
          <p:cNvSpPr txBox="1"/>
          <p:nvPr/>
        </p:nvSpPr>
        <p:spPr>
          <a:xfrm>
            <a:off x="930128" y="2336192"/>
            <a:ext cx="15911533" cy="580390"/>
          </a:xfrm>
          <a:prstGeom prst="rect">
            <a:avLst/>
          </a:prstGeom>
        </p:spPr>
        <p:txBody>
          <a:bodyPr lIns="0" tIns="0" rIns="0" bIns="0" rtlCol="0" anchor="t">
            <a:spAutoFit/>
          </a:bodyPr>
          <a:lstStyle/>
          <a:p>
            <a:pPr algn="l">
              <a:lnSpc>
                <a:spcPts val="4759"/>
              </a:lnSpc>
            </a:pPr>
            <a:r>
              <a:rPr lang="en-US" sz="3399">
                <a:solidFill>
                  <a:srgbClr val="6B7280"/>
                </a:solidFill>
                <a:latin typeface="Body Grotesque Fit"/>
                <a:ea typeface="Body Grotesque Fit"/>
                <a:cs typeface="Body Grotesque Fit"/>
                <a:sym typeface="Body Grotesque Fit"/>
              </a:rPr>
              <a:t>Por ej: Empleado registra venta para el almacén del barrio</a:t>
            </a:r>
          </a:p>
        </p:txBody>
      </p:sp>
      <p:sp>
        <p:nvSpPr>
          <p:cNvPr id="7" name="TextBox 7"/>
          <p:cNvSpPr txBox="1"/>
          <p:nvPr/>
        </p:nvSpPr>
        <p:spPr>
          <a:xfrm>
            <a:off x="900223" y="408196"/>
            <a:ext cx="887176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ENCONTRAR EL BALANCE</a:t>
            </a:r>
          </a:p>
        </p:txBody>
      </p:sp>
      <p:sp>
        <p:nvSpPr>
          <p:cNvPr id="8" name="TextBox 8"/>
          <p:cNvSpPr txBox="1"/>
          <p:nvPr/>
        </p:nvSpPr>
        <p:spPr>
          <a:xfrm>
            <a:off x="900223" y="1738110"/>
            <a:ext cx="15911533" cy="580390"/>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Depende del cliente! → </a:t>
            </a:r>
            <a:r>
              <a:rPr lang="en-US" sz="3399" b="1">
                <a:solidFill>
                  <a:srgbClr val="6B7280"/>
                </a:solidFill>
                <a:latin typeface="Body Grotesque Fit Bold"/>
                <a:ea typeface="Body Grotesque Fit Bold"/>
                <a:cs typeface="Body Grotesque Fit Bold"/>
                <a:sym typeface="Body Grotesque Fit Bold"/>
              </a:rPr>
              <a:t>Comunicación eficiente!</a:t>
            </a:r>
          </a:p>
        </p:txBody>
      </p:sp>
      <p:grpSp>
        <p:nvGrpSpPr>
          <p:cNvPr id="9" name="Group 9"/>
          <p:cNvGrpSpPr/>
          <p:nvPr/>
        </p:nvGrpSpPr>
        <p:grpSpPr>
          <a:xfrm>
            <a:off x="9771986" y="3704813"/>
            <a:ext cx="7769547" cy="2363228"/>
            <a:chOff x="0" y="0"/>
            <a:chExt cx="10359395" cy="3150970"/>
          </a:xfrm>
        </p:grpSpPr>
        <p:sp>
          <p:nvSpPr>
            <p:cNvPr id="10" name="TextBox 10"/>
            <p:cNvSpPr txBox="1"/>
            <p:nvPr/>
          </p:nvSpPr>
          <p:spPr>
            <a:xfrm>
              <a:off x="0" y="-66675"/>
              <a:ext cx="5862017" cy="751628"/>
            </a:xfrm>
            <a:prstGeom prst="rect">
              <a:avLst/>
            </a:prstGeom>
          </p:spPr>
          <p:txBody>
            <a:bodyPr lIns="0" tIns="0" rIns="0" bIns="0" rtlCol="0" anchor="t">
              <a:spAutoFit/>
            </a:bodyPr>
            <a:lstStyle/>
            <a:p>
              <a:pPr algn="l">
                <a:lnSpc>
                  <a:spcPts val="4759"/>
                </a:lnSpc>
              </a:pPr>
              <a:r>
                <a:rPr lang="en-US" sz="3399" b="1">
                  <a:solidFill>
                    <a:srgbClr val="6B7280"/>
                  </a:solidFill>
                  <a:latin typeface="Body Grotesque Fit Bold"/>
                  <a:ea typeface="Body Grotesque Fit Bold"/>
                  <a:cs typeface="Body Grotesque Fit Bold"/>
                  <a:sym typeface="Body Grotesque Fit Bold"/>
                </a:rPr>
                <a:t>Buena experiencia</a:t>
              </a:r>
            </a:p>
          </p:txBody>
        </p:sp>
        <p:grpSp>
          <p:nvGrpSpPr>
            <p:cNvPr id="11" name="Group 11"/>
            <p:cNvGrpSpPr/>
            <p:nvPr/>
          </p:nvGrpSpPr>
          <p:grpSpPr>
            <a:xfrm>
              <a:off x="0" y="990330"/>
              <a:ext cx="10359395" cy="927920"/>
              <a:chOff x="0" y="0"/>
              <a:chExt cx="2046300" cy="183293"/>
            </a:xfrm>
          </p:grpSpPr>
          <p:sp>
            <p:nvSpPr>
              <p:cNvPr id="12" name="Freeform 12"/>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13" name="TextBox 13"/>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14" name="Group 14"/>
            <p:cNvGrpSpPr/>
            <p:nvPr/>
          </p:nvGrpSpPr>
          <p:grpSpPr>
            <a:xfrm>
              <a:off x="81212" y="1031825"/>
              <a:ext cx="844929" cy="84492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17" name="TextBox 17"/>
            <p:cNvSpPr txBox="1"/>
            <p:nvPr/>
          </p:nvSpPr>
          <p:spPr>
            <a:xfrm>
              <a:off x="1306437" y="120521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Acciones consolidadas</a:t>
              </a:r>
            </a:p>
          </p:txBody>
        </p:sp>
        <p:sp>
          <p:nvSpPr>
            <p:cNvPr id="18" name="Freeform 18"/>
            <p:cNvSpPr/>
            <p:nvPr/>
          </p:nvSpPr>
          <p:spPr>
            <a:xfrm>
              <a:off x="286514" y="1284777"/>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0" y="2223050"/>
              <a:ext cx="10359395" cy="927920"/>
              <a:chOff x="0" y="0"/>
              <a:chExt cx="2046300" cy="183293"/>
            </a:xfrm>
          </p:grpSpPr>
          <p:sp>
            <p:nvSpPr>
              <p:cNvPr id="20" name="Freeform 20"/>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21" name="TextBox 21"/>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22" name="Group 22"/>
            <p:cNvGrpSpPr/>
            <p:nvPr/>
          </p:nvGrpSpPr>
          <p:grpSpPr>
            <a:xfrm>
              <a:off x="81212" y="2264545"/>
              <a:ext cx="844929" cy="84492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24" name="TextBox 24"/>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25" name="TextBox 25"/>
            <p:cNvSpPr txBox="1"/>
            <p:nvPr/>
          </p:nvSpPr>
          <p:spPr>
            <a:xfrm>
              <a:off x="1306437" y="243793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Con pocos clicks se crea una venta</a:t>
              </a:r>
            </a:p>
          </p:txBody>
        </p:sp>
        <p:sp>
          <p:nvSpPr>
            <p:cNvPr id="26" name="Freeform 26"/>
            <p:cNvSpPr/>
            <p:nvPr/>
          </p:nvSpPr>
          <p:spPr>
            <a:xfrm>
              <a:off x="286514" y="2517785"/>
              <a:ext cx="436709" cy="338449"/>
            </a:xfrm>
            <a:custGeom>
              <a:avLst/>
              <a:gdLst/>
              <a:ahLst/>
              <a:cxnLst/>
              <a:rect l="l" t="t" r="r" b="b"/>
              <a:pathLst>
                <a:path w="436709" h="338449">
                  <a:moveTo>
                    <a:pt x="0" y="0"/>
                  </a:moveTo>
                  <a:lnTo>
                    <a:pt x="436709" y="0"/>
                  </a:lnTo>
                  <a:lnTo>
                    <a:pt x="436709" y="338450"/>
                  </a:lnTo>
                  <a:lnTo>
                    <a:pt x="0" y="33845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grpSp>
        <p:nvGrpSpPr>
          <p:cNvPr id="27" name="Group 27"/>
          <p:cNvGrpSpPr/>
          <p:nvPr/>
        </p:nvGrpSpPr>
        <p:grpSpPr>
          <a:xfrm>
            <a:off x="9771986" y="6456903"/>
            <a:ext cx="7769547" cy="2362795"/>
            <a:chOff x="0" y="0"/>
            <a:chExt cx="10359395" cy="3150394"/>
          </a:xfrm>
        </p:grpSpPr>
        <p:sp>
          <p:nvSpPr>
            <p:cNvPr id="28" name="TextBox 28"/>
            <p:cNvSpPr txBox="1"/>
            <p:nvPr/>
          </p:nvSpPr>
          <p:spPr>
            <a:xfrm>
              <a:off x="0" y="-66675"/>
              <a:ext cx="7809149" cy="751628"/>
            </a:xfrm>
            <a:prstGeom prst="rect">
              <a:avLst/>
            </a:prstGeom>
          </p:spPr>
          <p:txBody>
            <a:bodyPr lIns="0" tIns="0" rIns="0" bIns="0" rtlCol="0" anchor="t">
              <a:spAutoFit/>
            </a:bodyPr>
            <a:lstStyle/>
            <a:p>
              <a:pPr algn="l">
                <a:lnSpc>
                  <a:spcPts val="4759"/>
                </a:lnSpc>
              </a:pPr>
              <a:r>
                <a:rPr lang="en-US" sz="3399" b="1">
                  <a:solidFill>
                    <a:srgbClr val="6B7280"/>
                  </a:solidFill>
                  <a:latin typeface="Body Grotesque Fit Bold"/>
                  <a:ea typeface="Body Grotesque Fit Bold"/>
                  <a:cs typeface="Body Grotesque Fit Bold"/>
                  <a:sym typeface="Body Grotesque Fit Bold"/>
                </a:rPr>
                <a:t>Interfaz anticuada</a:t>
              </a:r>
            </a:p>
          </p:txBody>
        </p:sp>
        <p:grpSp>
          <p:nvGrpSpPr>
            <p:cNvPr id="29" name="Group 29"/>
            <p:cNvGrpSpPr/>
            <p:nvPr/>
          </p:nvGrpSpPr>
          <p:grpSpPr>
            <a:xfrm>
              <a:off x="0" y="989753"/>
              <a:ext cx="10359395" cy="927920"/>
              <a:chOff x="0" y="0"/>
              <a:chExt cx="2046300" cy="183293"/>
            </a:xfrm>
          </p:grpSpPr>
          <p:sp>
            <p:nvSpPr>
              <p:cNvPr id="30" name="Freeform 30"/>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FEF2D9"/>
              </a:solidFill>
            </p:spPr>
          </p:sp>
          <p:sp>
            <p:nvSpPr>
              <p:cNvPr id="31" name="TextBox 31"/>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32" name="Group 32"/>
            <p:cNvGrpSpPr/>
            <p:nvPr/>
          </p:nvGrpSpPr>
          <p:grpSpPr>
            <a:xfrm>
              <a:off x="81212" y="1031249"/>
              <a:ext cx="844929" cy="844929"/>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C560"/>
              </a:solidFill>
            </p:spPr>
          </p:sp>
          <p:sp>
            <p:nvSpPr>
              <p:cNvPr id="34" name="TextBox 34"/>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35" name="TextBox 35"/>
            <p:cNvSpPr txBox="1"/>
            <p:nvPr/>
          </p:nvSpPr>
          <p:spPr>
            <a:xfrm>
              <a:off x="1306437" y="1195112"/>
              <a:ext cx="8539470" cy="503132"/>
            </a:xfrm>
            <a:prstGeom prst="rect">
              <a:avLst/>
            </a:prstGeom>
          </p:spPr>
          <p:txBody>
            <a:bodyPr lIns="0" tIns="0" rIns="0" bIns="0" rtlCol="0" anchor="t">
              <a:spAutoFit/>
            </a:bodyPr>
            <a:lstStyle/>
            <a:p>
              <a:pPr marL="0" lvl="0" indent="0" algn="l">
                <a:lnSpc>
                  <a:spcPts val="3219"/>
                </a:lnSpc>
                <a:spcBef>
                  <a:spcPct val="0"/>
                </a:spcBef>
              </a:pPr>
              <a:r>
                <a:rPr lang="en-US" sz="2299">
                  <a:solidFill>
                    <a:srgbClr val="6B7280"/>
                  </a:solidFill>
                  <a:latin typeface="Body Grotesque Fit"/>
                  <a:ea typeface="Body Grotesque Fit"/>
                  <a:cs typeface="Body Grotesque Fit"/>
                  <a:sym typeface="Body Grotesque Fit"/>
                </a:rPr>
                <a:t>No hay jerarquía visual (Eliminar y Agregar)</a:t>
              </a:r>
            </a:p>
          </p:txBody>
        </p:sp>
        <p:sp>
          <p:nvSpPr>
            <p:cNvPr id="36" name="Freeform 36"/>
            <p:cNvSpPr/>
            <p:nvPr/>
          </p:nvSpPr>
          <p:spPr>
            <a:xfrm>
              <a:off x="284694" y="1249244"/>
              <a:ext cx="413069" cy="408938"/>
            </a:xfrm>
            <a:custGeom>
              <a:avLst/>
              <a:gdLst/>
              <a:ahLst/>
              <a:cxnLst/>
              <a:rect l="l" t="t" r="r" b="b"/>
              <a:pathLst>
                <a:path w="413069" h="408938">
                  <a:moveTo>
                    <a:pt x="0" y="0"/>
                  </a:moveTo>
                  <a:lnTo>
                    <a:pt x="413069" y="0"/>
                  </a:lnTo>
                  <a:lnTo>
                    <a:pt x="413069" y="408939"/>
                  </a:lnTo>
                  <a:lnTo>
                    <a:pt x="0" y="4089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7" name="Group 37"/>
            <p:cNvGrpSpPr/>
            <p:nvPr/>
          </p:nvGrpSpPr>
          <p:grpSpPr>
            <a:xfrm>
              <a:off x="0" y="2222474"/>
              <a:ext cx="10359395" cy="927920"/>
              <a:chOff x="0" y="0"/>
              <a:chExt cx="2046300" cy="183293"/>
            </a:xfrm>
          </p:grpSpPr>
          <p:sp>
            <p:nvSpPr>
              <p:cNvPr id="38" name="Freeform 38"/>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FEF2D9"/>
              </a:solidFill>
            </p:spPr>
          </p:sp>
          <p:sp>
            <p:nvSpPr>
              <p:cNvPr id="39" name="TextBox 39"/>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40" name="Group 40"/>
            <p:cNvGrpSpPr/>
            <p:nvPr/>
          </p:nvGrpSpPr>
          <p:grpSpPr>
            <a:xfrm>
              <a:off x="81212" y="2263969"/>
              <a:ext cx="844929" cy="84492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C560"/>
              </a:solidFill>
            </p:spPr>
          </p:sp>
          <p:sp>
            <p:nvSpPr>
              <p:cNvPr id="42" name="TextBox 42"/>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43" name="TextBox 43"/>
            <p:cNvSpPr txBox="1"/>
            <p:nvPr/>
          </p:nvSpPr>
          <p:spPr>
            <a:xfrm>
              <a:off x="1306437" y="2437357"/>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¿Qué pasa si agregan 5 medios de pago?</a:t>
              </a:r>
            </a:p>
          </p:txBody>
        </p:sp>
        <p:sp>
          <p:nvSpPr>
            <p:cNvPr id="44" name="Freeform 44"/>
            <p:cNvSpPr/>
            <p:nvPr/>
          </p:nvSpPr>
          <p:spPr>
            <a:xfrm>
              <a:off x="284694" y="2481965"/>
              <a:ext cx="413069" cy="408938"/>
            </a:xfrm>
            <a:custGeom>
              <a:avLst/>
              <a:gdLst/>
              <a:ahLst/>
              <a:cxnLst/>
              <a:rect l="l" t="t" r="r" b="b"/>
              <a:pathLst>
                <a:path w="413069" h="408938">
                  <a:moveTo>
                    <a:pt x="0" y="0"/>
                  </a:moveTo>
                  <a:lnTo>
                    <a:pt x="413069" y="0"/>
                  </a:lnTo>
                  <a:lnTo>
                    <a:pt x="413069" y="408938"/>
                  </a:lnTo>
                  <a:lnTo>
                    <a:pt x="0" y="40893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2418" y="335178"/>
            <a:ext cx="11915351" cy="1128383"/>
            <a:chOff x="0" y="0"/>
            <a:chExt cx="3138199" cy="297187"/>
          </a:xfrm>
        </p:grpSpPr>
        <p:sp>
          <p:nvSpPr>
            <p:cNvPr id="3" name="Freeform 3"/>
            <p:cNvSpPr/>
            <p:nvPr/>
          </p:nvSpPr>
          <p:spPr>
            <a:xfrm>
              <a:off x="0" y="0"/>
              <a:ext cx="3138199" cy="297187"/>
            </a:xfrm>
            <a:custGeom>
              <a:avLst/>
              <a:gdLst/>
              <a:ahLst/>
              <a:cxnLst/>
              <a:rect l="l" t="t" r="r" b="b"/>
              <a:pathLst>
                <a:path w="3138199" h="297187">
                  <a:moveTo>
                    <a:pt x="64974" y="0"/>
                  </a:moveTo>
                  <a:lnTo>
                    <a:pt x="3073225" y="0"/>
                  </a:lnTo>
                  <a:cubicBezTo>
                    <a:pt x="3090457" y="0"/>
                    <a:pt x="3106984" y="6845"/>
                    <a:pt x="3119169" y="19031"/>
                  </a:cubicBezTo>
                  <a:cubicBezTo>
                    <a:pt x="3131354" y="31216"/>
                    <a:pt x="3138199" y="47742"/>
                    <a:pt x="3138199" y="64974"/>
                  </a:cubicBezTo>
                  <a:lnTo>
                    <a:pt x="3138199" y="232213"/>
                  </a:lnTo>
                  <a:cubicBezTo>
                    <a:pt x="3138199" y="268097"/>
                    <a:pt x="3109109" y="297187"/>
                    <a:pt x="3073225" y="297187"/>
                  </a:cubicBezTo>
                  <a:lnTo>
                    <a:pt x="64974" y="297187"/>
                  </a:lnTo>
                  <a:cubicBezTo>
                    <a:pt x="47742" y="297187"/>
                    <a:pt x="31216" y="290342"/>
                    <a:pt x="19031" y="278157"/>
                  </a:cubicBezTo>
                  <a:cubicBezTo>
                    <a:pt x="6845" y="265972"/>
                    <a:pt x="0" y="249445"/>
                    <a:pt x="0" y="232213"/>
                  </a:cubicBezTo>
                  <a:lnTo>
                    <a:pt x="0" y="64974"/>
                  </a:lnTo>
                  <a:cubicBezTo>
                    <a:pt x="0" y="47742"/>
                    <a:pt x="6845" y="31216"/>
                    <a:pt x="19031" y="19031"/>
                  </a:cubicBezTo>
                  <a:cubicBezTo>
                    <a:pt x="31216" y="6845"/>
                    <a:pt x="47742" y="0"/>
                    <a:pt x="64974" y="0"/>
                  </a:cubicBezTo>
                  <a:close/>
                </a:path>
              </a:pathLst>
            </a:custGeom>
            <a:solidFill>
              <a:srgbClr val="EAF2FF"/>
            </a:solidFill>
          </p:spPr>
        </p:sp>
        <p:sp>
          <p:nvSpPr>
            <p:cNvPr id="4" name="TextBox 4"/>
            <p:cNvSpPr txBox="1"/>
            <p:nvPr/>
          </p:nvSpPr>
          <p:spPr>
            <a:xfrm>
              <a:off x="0" y="-57150"/>
              <a:ext cx="3138199"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1028700" y="3694647"/>
            <a:ext cx="8438731" cy="4746786"/>
          </a:xfrm>
          <a:custGeom>
            <a:avLst/>
            <a:gdLst/>
            <a:ahLst/>
            <a:cxnLst/>
            <a:rect l="l" t="t" r="r" b="b"/>
            <a:pathLst>
              <a:path w="8438731" h="4746786">
                <a:moveTo>
                  <a:pt x="0" y="0"/>
                </a:moveTo>
                <a:lnTo>
                  <a:pt x="8438731" y="0"/>
                </a:lnTo>
                <a:lnTo>
                  <a:pt x="8438731" y="4746786"/>
                </a:lnTo>
                <a:lnTo>
                  <a:pt x="0" y="4746786"/>
                </a:lnTo>
                <a:lnTo>
                  <a:pt x="0" y="0"/>
                </a:lnTo>
                <a:close/>
              </a:path>
            </a:pathLst>
          </a:custGeom>
          <a:blipFill>
            <a:blip r:embed="rId2"/>
            <a:stretch>
              <a:fillRect/>
            </a:stretch>
          </a:blipFill>
        </p:spPr>
      </p:sp>
      <p:sp>
        <p:nvSpPr>
          <p:cNvPr id="6" name="TextBox 6"/>
          <p:cNvSpPr txBox="1"/>
          <p:nvPr/>
        </p:nvSpPr>
        <p:spPr>
          <a:xfrm>
            <a:off x="930128" y="2336192"/>
            <a:ext cx="15911533" cy="580390"/>
          </a:xfrm>
          <a:prstGeom prst="rect">
            <a:avLst/>
          </a:prstGeom>
        </p:spPr>
        <p:txBody>
          <a:bodyPr lIns="0" tIns="0" rIns="0" bIns="0" rtlCol="0" anchor="t">
            <a:spAutoFit/>
          </a:bodyPr>
          <a:lstStyle/>
          <a:p>
            <a:pPr algn="l">
              <a:lnSpc>
                <a:spcPts val="4759"/>
              </a:lnSpc>
            </a:pPr>
            <a:r>
              <a:rPr lang="en-US" sz="3399">
                <a:solidFill>
                  <a:srgbClr val="6B7280"/>
                </a:solidFill>
                <a:latin typeface="Body Grotesque Fit"/>
                <a:ea typeface="Body Grotesque Fit"/>
                <a:cs typeface="Body Grotesque Fit"/>
                <a:sym typeface="Body Grotesque Fit"/>
              </a:rPr>
              <a:t>Por ej: Empleado registra venta para el almacén del barrio</a:t>
            </a:r>
          </a:p>
        </p:txBody>
      </p:sp>
      <p:sp>
        <p:nvSpPr>
          <p:cNvPr id="7" name="TextBox 7"/>
          <p:cNvSpPr txBox="1"/>
          <p:nvPr/>
        </p:nvSpPr>
        <p:spPr>
          <a:xfrm>
            <a:off x="900223" y="408196"/>
            <a:ext cx="8871763"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ENCONTRAR EL BALANCE</a:t>
            </a:r>
          </a:p>
        </p:txBody>
      </p:sp>
      <p:sp>
        <p:nvSpPr>
          <p:cNvPr id="8" name="TextBox 8"/>
          <p:cNvSpPr txBox="1"/>
          <p:nvPr/>
        </p:nvSpPr>
        <p:spPr>
          <a:xfrm>
            <a:off x="900223" y="1738110"/>
            <a:ext cx="15911533" cy="580390"/>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Depende del cliente! → </a:t>
            </a:r>
            <a:r>
              <a:rPr lang="en-US" sz="3399" b="1">
                <a:solidFill>
                  <a:srgbClr val="6B7280"/>
                </a:solidFill>
                <a:latin typeface="Body Grotesque Fit Bold"/>
                <a:ea typeface="Body Grotesque Fit Bold"/>
                <a:cs typeface="Body Grotesque Fit Bold"/>
                <a:sym typeface="Body Grotesque Fit Bold"/>
              </a:rPr>
              <a:t>Comunicación eficiente!</a:t>
            </a:r>
          </a:p>
        </p:txBody>
      </p:sp>
      <p:grpSp>
        <p:nvGrpSpPr>
          <p:cNvPr id="9" name="Group 9"/>
          <p:cNvGrpSpPr/>
          <p:nvPr/>
        </p:nvGrpSpPr>
        <p:grpSpPr>
          <a:xfrm>
            <a:off x="9771986" y="3704813"/>
            <a:ext cx="7769547" cy="4212308"/>
            <a:chOff x="0" y="0"/>
            <a:chExt cx="10359395" cy="5616410"/>
          </a:xfrm>
        </p:grpSpPr>
        <p:sp>
          <p:nvSpPr>
            <p:cNvPr id="10" name="TextBox 10"/>
            <p:cNvSpPr txBox="1"/>
            <p:nvPr/>
          </p:nvSpPr>
          <p:spPr>
            <a:xfrm>
              <a:off x="0" y="-66675"/>
              <a:ext cx="5862017" cy="751628"/>
            </a:xfrm>
            <a:prstGeom prst="rect">
              <a:avLst/>
            </a:prstGeom>
          </p:spPr>
          <p:txBody>
            <a:bodyPr lIns="0" tIns="0" rIns="0" bIns="0" rtlCol="0" anchor="t">
              <a:spAutoFit/>
            </a:bodyPr>
            <a:lstStyle/>
            <a:p>
              <a:pPr algn="l">
                <a:lnSpc>
                  <a:spcPts val="4759"/>
                </a:lnSpc>
              </a:pPr>
              <a:r>
                <a:rPr lang="en-US" sz="3399" b="1">
                  <a:solidFill>
                    <a:srgbClr val="6B7280"/>
                  </a:solidFill>
                  <a:latin typeface="Body Grotesque Fit Bold"/>
                  <a:ea typeface="Body Grotesque Fit Bold"/>
                  <a:cs typeface="Body Grotesque Fit Bold"/>
                  <a:sym typeface="Body Grotesque Fit Bold"/>
                </a:rPr>
                <a:t>Diseño balanceado</a:t>
              </a:r>
            </a:p>
          </p:txBody>
        </p:sp>
        <p:grpSp>
          <p:nvGrpSpPr>
            <p:cNvPr id="11" name="Group 11"/>
            <p:cNvGrpSpPr/>
            <p:nvPr/>
          </p:nvGrpSpPr>
          <p:grpSpPr>
            <a:xfrm>
              <a:off x="0" y="990330"/>
              <a:ext cx="10359395" cy="927920"/>
              <a:chOff x="0" y="0"/>
              <a:chExt cx="2046300" cy="183293"/>
            </a:xfrm>
          </p:grpSpPr>
          <p:sp>
            <p:nvSpPr>
              <p:cNvPr id="12" name="Freeform 12"/>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13" name="TextBox 13"/>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14" name="Group 14"/>
            <p:cNvGrpSpPr/>
            <p:nvPr/>
          </p:nvGrpSpPr>
          <p:grpSpPr>
            <a:xfrm>
              <a:off x="81212" y="1031825"/>
              <a:ext cx="844929" cy="84492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17" name="TextBox 17"/>
            <p:cNvSpPr txBox="1"/>
            <p:nvPr/>
          </p:nvSpPr>
          <p:spPr>
            <a:xfrm>
              <a:off x="1306437" y="120521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Acciones consolidadas</a:t>
              </a:r>
            </a:p>
          </p:txBody>
        </p:sp>
        <p:sp>
          <p:nvSpPr>
            <p:cNvPr id="18" name="Freeform 18"/>
            <p:cNvSpPr/>
            <p:nvPr/>
          </p:nvSpPr>
          <p:spPr>
            <a:xfrm>
              <a:off x="286514" y="1284777"/>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0" y="2223050"/>
              <a:ext cx="10359395" cy="927920"/>
              <a:chOff x="0" y="0"/>
              <a:chExt cx="2046300" cy="183293"/>
            </a:xfrm>
          </p:grpSpPr>
          <p:sp>
            <p:nvSpPr>
              <p:cNvPr id="20" name="Freeform 20"/>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21" name="TextBox 21"/>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22" name="Group 22"/>
            <p:cNvGrpSpPr/>
            <p:nvPr/>
          </p:nvGrpSpPr>
          <p:grpSpPr>
            <a:xfrm>
              <a:off x="81212" y="2264545"/>
              <a:ext cx="844929" cy="84492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24" name="TextBox 24"/>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25" name="TextBox 25"/>
            <p:cNvSpPr txBox="1"/>
            <p:nvPr/>
          </p:nvSpPr>
          <p:spPr>
            <a:xfrm>
              <a:off x="1306437" y="2437933"/>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Con pocos clicks se crea una venta</a:t>
              </a:r>
            </a:p>
          </p:txBody>
        </p:sp>
        <p:sp>
          <p:nvSpPr>
            <p:cNvPr id="26" name="Freeform 26"/>
            <p:cNvSpPr/>
            <p:nvPr/>
          </p:nvSpPr>
          <p:spPr>
            <a:xfrm>
              <a:off x="286514" y="2515150"/>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27" name="Group 27"/>
            <p:cNvGrpSpPr/>
            <p:nvPr/>
          </p:nvGrpSpPr>
          <p:grpSpPr>
            <a:xfrm>
              <a:off x="0" y="3455770"/>
              <a:ext cx="10359395" cy="927920"/>
              <a:chOff x="0" y="0"/>
              <a:chExt cx="2046300" cy="183293"/>
            </a:xfrm>
          </p:grpSpPr>
          <p:sp>
            <p:nvSpPr>
              <p:cNvPr id="28" name="Freeform 28"/>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29" name="TextBox 29"/>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30" name="Group 30"/>
            <p:cNvGrpSpPr/>
            <p:nvPr/>
          </p:nvGrpSpPr>
          <p:grpSpPr>
            <a:xfrm>
              <a:off x="81212" y="3497265"/>
              <a:ext cx="844929" cy="84492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32" name="TextBox 32"/>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33" name="TextBox 33"/>
            <p:cNvSpPr txBox="1"/>
            <p:nvPr/>
          </p:nvSpPr>
          <p:spPr>
            <a:xfrm>
              <a:off x="1306437" y="3670654"/>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Jerarquía visual</a:t>
              </a:r>
            </a:p>
          </p:txBody>
        </p:sp>
        <p:sp>
          <p:nvSpPr>
            <p:cNvPr id="34" name="Freeform 34"/>
            <p:cNvSpPr/>
            <p:nvPr/>
          </p:nvSpPr>
          <p:spPr>
            <a:xfrm>
              <a:off x="286514" y="3747870"/>
              <a:ext cx="436709" cy="338449"/>
            </a:xfrm>
            <a:custGeom>
              <a:avLst/>
              <a:gdLst/>
              <a:ahLst/>
              <a:cxnLst/>
              <a:rect l="l" t="t" r="r" b="b"/>
              <a:pathLst>
                <a:path w="436709" h="338449">
                  <a:moveTo>
                    <a:pt x="0" y="0"/>
                  </a:moveTo>
                  <a:lnTo>
                    <a:pt x="436709" y="0"/>
                  </a:lnTo>
                  <a:lnTo>
                    <a:pt x="436709" y="338449"/>
                  </a:lnTo>
                  <a:lnTo>
                    <a:pt x="0" y="33844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0" y="4688490"/>
              <a:ext cx="10359395" cy="927920"/>
              <a:chOff x="0" y="0"/>
              <a:chExt cx="2046300" cy="183293"/>
            </a:xfrm>
          </p:grpSpPr>
          <p:sp>
            <p:nvSpPr>
              <p:cNvPr id="36" name="Freeform 36"/>
              <p:cNvSpPr/>
              <p:nvPr/>
            </p:nvSpPr>
            <p:spPr>
              <a:xfrm>
                <a:off x="0" y="0"/>
                <a:ext cx="2046300" cy="183293"/>
              </a:xfrm>
              <a:custGeom>
                <a:avLst/>
                <a:gdLst/>
                <a:ahLst/>
                <a:cxnLst/>
                <a:rect l="l" t="t" r="r" b="b"/>
                <a:pathLst>
                  <a:path w="2046300" h="183293">
                    <a:moveTo>
                      <a:pt x="91646" y="0"/>
                    </a:moveTo>
                    <a:lnTo>
                      <a:pt x="1954654" y="0"/>
                    </a:lnTo>
                    <a:cubicBezTo>
                      <a:pt x="2005269" y="0"/>
                      <a:pt x="2046300" y="41032"/>
                      <a:pt x="2046300" y="91646"/>
                    </a:cubicBezTo>
                    <a:lnTo>
                      <a:pt x="2046300" y="91646"/>
                    </a:lnTo>
                    <a:cubicBezTo>
                      <a:pt x="2046300" y="115953"/>
                      <a:pt x="2036645" y="139263"/>
                      <a:pt x="2019458" y="156450"/>
                    </a:cubicBezTo>
                    <a:cubicBezTo>
                      <a:pt x="2002271" y="173637"/>
                      <a:pt x="1978960" y="183293"/>
                      <a:pt x="1954654" y="183293"/>
                    </a:cubicBezTo>
                    <a:lnTo>
                      <a:pt x="91646" y="183293"/>
                    </a:lnTo>
                    <a:cubicBezTo>
                      <a:pt x="41032" y="183293"/>
                      <a:pt x="0" y="142261"/>
                      <a:pt x="0" y="91646"/>
                    </a:cubicBezTo>
                    <a:lnTo>
                      <a:pt x="0" y="91646"/>
                    </a:lnTo>
                    <a:cubicBezTo>
                      <a:pt x="0" y="41032"/>
                      <a:pt x="41032" y="0"/>
                      <a:pt x="91646" y="0"/>
                    </a:cubicBezTo>
                    <a:close/>
                  </a:path>
                </a:pathLst>
              </a:custGeom>
              <a:solidFill>
                <a:srgbClr val="DFFFDF"/>
              </a:solidFill>
            </p:spPr>
          </p:sp>
          <p:sp>
            <p:nvSpPr>
              <p:cNvPr id="37" name="TextBox 37"/>
              <p:cNvSpPr txBox="1"/>
              <p:nvPr/>
            </p:nvSpPr>
            <p:spPr>
              <a:xfrm>
                <a:off x="0" y="-57150"/>
                <a:ext cx="2046300" cy="240443"/>
              </a:xfrm>
              <a:prstGeom prst="rect">
                <a:avLst/>
              </a:prstGeom>
            </p:spPr>
            <p:txBody>
              <a:bodyPr lIns="50800" tIns="50800" rIns="50800" bIns="50800" rtlCol="0" anchor="ctr"/>
              <a:lstStyle/>
              <a:p>
                <a:pPr algn="ctr">
                  <a:lnSpc>
                    <a:spcPts val="3584"/>
                  </a:lnSpc>
                </a:pPr>
                <a:endParaRPr/>
              </a:p>
            </p:txBody>
          </p:sp>
        </p:grpSp>
        <p:grpSp>
          <p:nvGrpSpPr>
            <p:cNvPr id="38" name="Group 38"/>
            <p:cNvGrpSpPr/>
            <p:nvPr/>
          </p:nvGrpSpPr>
          <p:grpSpPr>
            <a:xfrm>
              <a:off x="81212" y="4729986"/>
              <a:ext cx="844929" cy="844929"/>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E89A"/>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3584"/>
                  </a:lnSpc>
                </a:pPr>
                <a:endParaRPr/>
              </a:p>
            </p:txBody>
          </p:sp>
        </p:grpSp>
        <p:sp>
          <p:nvSpPr>
            <p:cNvPr id="41" name="TextBox 41"/>
            <p:cNvSpPr txBox="1"/>
            <p:nvPr/>
          </p:nvSpPr>
          <p:spPr>
            <a:xfrm>
              <a:off x="1306437" y="4903374"/>
              <a:ext cx="8539470" cy="537634"/>
            </a:xfrm>
            <a:prstGeom prst="rect">
              <a:avLst/>
            </a:prstGeom>
          </p:spPr>
          <p:txBody>
            <a:bodyPr lIns="0" tIns="0" rIns="0" bIns="0" rtlCol="0" anchor="t">
              <a:spAutoFit/>
            </a:bodyPr>
            <a:lstStyle/>
            <a:p>
              <a:pPr marL="0" lvl="0" indent="0" algn="l">
                <a:lnSpc>
                  <a:spcPts val="3499"/>
                </a:lnSpc>
                <a:spcBef>
                  <a:spcPct val="0"/>
                </a:spcBef>
              </a:pPr>
              <a:r>
                <a:rPr lang="en-US" sz="2499">
                  <a:solidFill>
                    <a:srgbClr val="6B7280"/>
                  </a:solidFill>
                  <a:latin typeface="Body Grotesque Fit"/>
                  <a:ea typeface="Body Grotesque Fit"/>
                  <a:cs typeface="Body Grotesque Fit"/>
                  <a:sym typeface="Body Grotesque Fit"/>
                </a:rPr>
                <a:t>Buen uso de componentes</a:t>
              </a:r>
            </a:p>
          </p:txBody>
        </p:sp>
        <p:sp>
          <p:nvSpPr>
            <p:cNvPr id="42" name="Freeform 42"/>
            <p:cNvSpPr/>
            <p:nvPr/>
          </p:nvSpPr>
          <p:spPr>
            <a:xfrm>
              <a:off x="286514" y="4980590"/>
              <a:ext cx="436709" cy="338449"/>
            </a:xfrm>
            <a:custGeom>
              <a:avLst/>
              <a:gdLst/>
              <a:ahLst/>
              <a:cxnLst/>
              <a:rect l="l" t="t" r="r" b="b"/>
              <a:pathLst>
                <a:path w="436709" h="338449">
                  <a:moveTo>
                    <a:pt x="0" y="0"/>
                  </a:moveTo>
                  <a:lnTo>
                    <a:pt x="436709" y="0"/>
                  </a:lnTo>
                  <a:lnTo>
                    <a:pt x="436709" y="338450"/>
                  </a:lnTo>
                  <a:lnTo>
                    <a:pt x="0" y="33845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1855542" cy="1128383"/>
            <a:chOff x="0" y="0"/>
            <a:chExt cx="3122447" cy="297187"/>
          </a:xfrm>
        </p:grpSpPr>
        <p:sp>
          <p:nvSpPr>
            <p:cNvPr id="3" name="Freeform 3"/>
            <p:cNvSpPr/>
            <p:nvPr/>
          </p:nvSpPr>
          <p:spPr>
            <a:xfrm>
              <a:off x="0" y="0"/>
              <a:ext cx="3122447" cy="297187"/>
            </a:xfrm>
            <a:custGeom>
              <a:avLst/>
              <a:gdLst/>
              <a:ahLst/>
              <a:cxnLst/>
              <a:rect l="l" t="t" r="r" b="b"/>
              <a:pathLst>
                <a:path w="3122447" h="297187">
                  <a:moveTo>
                    <a:pt x="65302" y="0"/>
                  </a:moveTo>
                  <a:lnTo>
                    <a:pt x="3057145" y="0"/>
                  </a:lnTo>
                  <a:cubicBezTo>
                    <a:pt x="3074464" y="0"/>
                    <a:pt x="3091074" y="6880"/>
                    <a:pt x="3103321" y="19127"/>
                  </a:cubicBezTo>
                  <a:cubicBezTo>
                    <a:pt x="3115567" y="31373"/>
                    <a:pt x="3122447" y="47983"/>
                    <a:pt x="3122447" y="65302"/>
                  </a:cubicBezTo>
                  <a:lnTo>
                    <a:pt x="3122447" y="231885"/>
                  </a:lnTo>
                  <a:cubicBezTo>
                    <a:pt x="3122447" y="249204"/>
                    <a:pt x="3115567" y="265814"/>
                    <a:pt x="3103321" y="278061"/>
                  </a:cubicBezTo>
                  <a:cubicBezTo>
                    <a:pt x="3091074" y="290307"/>
                    <a:pt x="3074464" y="297187"/>
                    <a:pt x="3057145" y="297187"/>
                  </a:cubicBezTo>
                  <a:lnTo>
                    <a:pt x="65302" y="297187"/>
                  </a:lnTo>
                  <a:cubicBezTo>
                    <a:pt x="47983" y="297187"/>
                    <a:pt x="31373" y="290307"/>
                    <a:pt x="19127" y="278061"/>
                  </a:cubicBezTo>
                  <a:cubicBezTo>
                    <a:pt x="6880" y="265814"/>
                    <a:pt x="0" y="249204"/>
                    <a:pt x="0" y="231885"/>
                  </a:cubicBezTo>
                  <a:lnTo>
                    <a:pt x="0" y="65302"/>
                  </a:lnTo>
                  <a:cubicBezTo>
                    <a:pt x="0" y="47983"/>
                    <a:pt x="6880" y="31373"/>
                    <a:pt x="19127" y="19127"/>
                  </a:cubicBezTo>
                  <a:cubicBezTo>
                    <a:pt x="31373" y="6880"/>
                    <a:pt x="47983" y="0"/>
                    <a:pt x="65302" y="0"/>
                  </a:cubicBezTo>
                  <a:close/>
                </a:path>
              </a:pathLst>
            </a:custGeom>
            <a:solidFill>
              <a:srgbClr val="EAF2FF"/>
            </a:solidFill>
          </p:spPr>
        </p:sp>
        <p:sp>
          <p:nvSpPr>
            <p:cNvPr id="4" name="TextBox 4"/>
            <p:cNvSpPr txBox="1"/>
            <p:nvPr/>
          </p:nvSpPr>
          <p:spPr>
            <a:xfrm>
              <a:off x="0" y="-57150"/>
              <a:ext cx="3122447" cy="354337"/>
            </a:xfrm>
            <a:prstGeom prst="rect">
              <a:avLst/>
            </a:prstGeom>
          </p:spPr>
          <p:txBody>
            <a:bodyPr lIns="50800" tIns="50800" rIns="50800" bIns="50800" rtlCol="0" anchor="ctr"/>
            <a:lstStyle/>
            <a:p>
              <a:pPr algn="ctr">
                <a:lnSpc>
                  <a:spcPts val="3584"/>
                </a:lnSpc>
              </a:pPr>
              <a:endParaRPr/>
            </a:p>
          </p:txBody>
        </p:sp>
      </p:grpSp>
      <p:sp>
        <p:nvSpPr>
          <p:cNvPr id="5" name="TextBox 5"/>
          <p:cNvSpPr txBox="1"/>
          <p:nvPr/>
        </p:nvSpPr>
        <p:spPr>
          <a:xfrm>
            <a:off x="930128" y="3261140"/>
            <a:ext cx="15911533" cy="5981065"/>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UI y UX van muy de la mano, pero esto depende de muchos factores como:</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Presupuesto</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Urgencia de implementación</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Resistencia al cambio</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Si el cliente está interesado en invertir en interfaces modernas o no</a:t>
            </a:r>
          </a:p>
          <a:p>
            <a:pPr algn="l">
              <a:lnSpc>
                <a:spcPts val="4759"/>
              </a:lnSpc>
            </a:pPr>
            <a:endParaRPr lang="en-US" sz="3399">
              <a:solidFill>
                <a:srgbClr val="6B7280"/>
              </a:solidFill>
              <a:latin typeface="Body Grotesque Fit"/>
              <a:ea typeface="Body Grotesque Fit"/>
              <a:cs typeface="Body Grotesque Fit"/>
              <a:sym typeface="Body Grotesque Fit"/>
            </a:endParaRPr>
          </a:p>
          <a:p>
            <a:pPr algn="l">
              <a:lnSpc>
                <a:spcPts val="4759"/>
              </a:lnSpc>
            </a:pPr>
            <a:r>
              <a:rPr lang="en-US" sz="3399">
                <a:solidFill>
                  <a:srgbClr val="6B7280"/>
                </a:solidFill>
                <a:latin typeface="Body Grotesque Fit"/>
                <a:ea typeface="Body Grotesque Fit"/>
                <a:cs typeface="Body Grotesque Fit"/>
                <a:sym typeface="Body Grotesque Fit"/>
              </a:rPr>
              <a:t>La experiencia de usuario es </a:t>
            </a:r>
            <a:r>
              <a:rPr lang="en-US" sz="3399" b="1">
                <a:solidFill>
                  <a:srgbClr val="6B7280"/>
                </a:solidFill>
                <a:latin typeface="Body Grotesque Fit Bold"/>
                <a:ea typeface="Body Grotesque Fit Bold"/>
                <a:cs typeface="Body Grotesque Fit Bold"/>
                <a:sym typeface="Body Grotesque Fit Bold"/>
              </a:rPr>
              <a:t>fundamental</a:t>
            </a:r>
            <a:r>
              <a:rPr lang="en-US" sz="3399">
                <a:solidFill>
                  <a:srgbClr val="6B7280"/>
                </a:solidFill>
                <a:latin typeface="Body Grotesque Fit"/>
                <a:ea typeface="Body Grotesque Fit"/>
                <a:cs typeface="Body Grotesque Fit"/>
                <a:sym typeface="Body Grotesque Fit"/>
              </a:rPr>
              <a:t>, y hay que priorizarla.</a:t>
            </a:r>
          </a:p>
          <a:p>
            <a:pPr algn="l">
              <a:lnSpc>
                <a:spcPts val="4759"/>
              </a:lnSpc>
            </a:pPr>
            <a:endParaRPr lang="en-US" sz="3399">
              <a:solidFill>
                <a:srgbClr val="6B7280"/>
              </a:solidFill>
              <a:latin typeface="Body Grotesque Fit"/>
              <a:ea typeface="Body Grotesque Fit"/>
              <a:cs typeface="Body Grotesque Fit"/>
              <a:sym typeface="Body Grotesque Fit"/>
            </a:endParaRPr>
          </a:p>
          <a:p>
            <a:pPr algn="l">
              <a:lnSpc>
                <a:spcPts val="4759"/>
              </a:lnSpc>
            </a:pPr>
            <a:r>
              <a:rPr lang="en-US" sz="3399">
                <a:solidFill>
                  <a:srgbClr val="6B7280"/>
                </a:solidFill>
                <a:latin typeface="Body Grotesque Fit"/>
                <a:ea typeface="Body Grotesque Fit"/>
                <a:cs typeface="Body Grotesque Fit"/>
                <a:sym typeface="Body Grotesque Fit"/>
              </a:rPr>
              <a:t>También se dice que la UI forma parte de este ecosistema mucho más grande que es la UX.</a:t>
            </a:r>
          </a:p>
        </p:txBody>
      </p:sp>
      <p:sp>
        <p:nvSpPr>
          <p:cNvPr id="6" name="TextBox 6"/>
          <p:cNvSpPr txBox="1"/>
          <p:nvPr/>
        </p:nvSpPr>
        <p:spPr>
          <a:xfrm>
            <a:off x="930128" y="1582321"/>
            <a:ext cx="9410037"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¿BONITO O FUNCIONAL?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2514" y="1509302"/>
            <a:ext cx="13537644" cy="1128383"/>
            <a:chOff x="0" y="0"/>
            <a:chExt cx="3565470" cy="297187"/>
          </a:xfrm>
        </p:grpSpPr>
        <p:sp>
          <p:nvSpPr>
            <p:cNvPr id="3" name="Freeform 3"/>
            <p:cNvSpPr/>
            <p:nvPr/>
          </p:nvSpPr>
          <p:spPr>
            <a:xfrm>
              <a:off x="0" y="0"/>
              <a:ext cx="3565470" cy="297187"/>
            </a:xfrm>
            <a:custGeom>
              <a:avLst/>
              <a:gdLst/>
              <a:ahLst/>
              <a:cxnLst/>
              <a:rect l="l" t="t" r="r" b="b"/>
              <a:pathLst>
                <a:path w="3565470" h="297187">
                  <a:moveTo>
                    <a:pt x="57188" y="0"/>
                  </a:moveTo>
                  <a:lnTo>
                    <a:pt x="3508282" y="0"/>
                  </a:lnTo>
                  <a:cubicBezTo>
                    <a:pt x="3539866" y="0"/>
                    <a:pt x="3565470" y="25604"/>
                    <a:pt x="3565470" y="57188"/>
                  </a:cubicBezTo>
                  <a:lnTo>
                    <a:pt x="3565470" y="239999"/>
                  </a:lnTo>
                  <a:cubicBezTo>
                    <a:pt x="3565470" y="271583"/>
                    <a:pt x="3539866" y="297187"/>
                    <a:pt x="3508282" y="297187"/>
                  </a:cubicBezTo>
                  <a:lnTo>
                    <a:pt x="57188" y="297187"/>
                  </a:lnTo>
                  <a:cubicBezTo>
                    <a:pt x="25604" y="297187"/>
                    <a:pt x="0" y="271583"/>
                    <a:pt x="0" y="239999"/>
                  </a:cubicBezTo>
                  <a:lnTo>
                    <a:pt x="0" y="57188"/>
                  </a:lnTo>
                  <a:cubicBezTo>
                    <a:pt x="0" y="25604"/>
                    <a:pt x="25604" y="0"/>
                    <a:pt x="57188" y="0"/>
                  </a:cubicBezTo>
                  <a:close/>
                </a:path>
              </a:pathLst>
            </a:custGeom>
            <a:solidFill>
              <a:srgbClr val="EAF2FF"/>
            </a:solidFill>
          </p:spPr>
        </p:sp>
        <p:sp>
          <p:nvSpPr>
            <p:cNvPr id="4" name="TextBox 4"/>
            <p:cNvSpPr txBox="1"/>
            <p:nvPr/>
          </p:nvSpPr>
          <p:spPr>
            <a:xfrm>
              <a:off x="0" y="-57150"/>
              <a:ext cx="3565470"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10168258" y="3714954"/>
            <a:ext cx="7091042" cy="3939960"/>
          </a:xfrm>
          <a:custGeom>
            <a:avLst/>
            <a:gdLst/>
            <a:ahLst/>
            <a:cxnLst/>
            <a:rect l="l" t="t" r="r" b="b"/>
            <a:pathLst>
              <a:path w="7091042" h="3939960">
                <a:moveTo>
                  <a:pt x="0" y="0"/>
                </a:moveTo>
                <a:lnTo>
                  <a:pt x="7091042" y="0"/>
                </a:lnTo>
                <a:lnTo>
                  <a:pt x="7091042" y="3939961"/>
                </a:lnTo>
                <a:lnTo>
                  <a:pt x="0" y="3939961"/>
                </a:lnTo>
                <a:lnTo>
                  <a:pt x="0" y="0"/>
                </a:lnTo>
                <a:close/>
              </a:path>
            </a:pathLst>
          </a:custGeom>
          <a:blipFill>
            <a:blip r:embed="rId3"/>
            <a:stretch>
              <a:fillRect/>
            </a:stretch>
          </a:blipFill>
        </p:spPr>
      </p:sp>
      <p:sp>
        <p:nvSpPr>
          <p:cNvPr id="6" name="TextBox 6"/>
          <p:cNvSpPr txBox="1"/>
          <p:nvPr/>
        </p:nvSpPr>
        <p:spPr>
          <a:xfrm>
            <a:off x="930128" y="3261140"/>
            <a:ext cx="8689690" cy="6581140"/>
          </a:xfrm>
          <a:prstGeom prst="rect">
            <a:avLst/>
          </a:prstGeom>
        </p:spPr>
        <p:txBody>
          <a:bodyPr lIns="0" tIns="0" rIns="0" bIns="0" rtlCol="0" anchor="t">
            <a:spAutoFit/>
          </a:bodyPr>
          <a:lstStyle/>
          <a:p>
            <a:pPr algn="l">
              <a:lnSpc>
                <a:spcPts val="4759"/>
              </a:lnSpc>
            </a:pPr>
            <a:r>
              <a:rPr lang="en-US" sz="3399">
                <a:solidFill>
                  <a:srgbClr val="6B7280"/>
                </a:solidFill>
                <a:latin typeface="Body Grotesque Fit"/>
                <a:ea typeface="Body Grotesque Fit"/>
                <a:cs typeface="Body Grotesque Fit"/>
                <a:sym typeface="Body Grotesque Fit"/>
              </a:rPr>
              <a:t>Introducimos el concepto de </a:t>
            </a:r>
            <a:r>
              <a:rPr lang="en-US" sz="3399" b="1">
                <a:solidFill>
                  <a:srgbClr val="6B7280"/>
                </a:solidFill>
                <a:latin typeface="Body Grotesque Fit Bold"/>
                <a:ea typeface="Body Grotesque Fit Bold"/>
                <a:cs typeface="Body Grotesque Fit Bold"/>
                <a:sym typeface="Body Grotesque Fit Bold"/>
              </a:rPr>
              <a:t>Wireframes</a:t>
            </a:r>
            <a:r>
              <a:rPr lang="en-US" sz="3399">
                <a:solidFill>
                  <a:srgbClr val="6B7280"/>
                </a:solidFill>
                <a:latin typeface="Body Grotesque Fit"/>
                <a:ea typeface="Body Grotesque Fit"/>
                <a:cs typeface="Body Grotesque Fit"/>
                <a:sym typeface="Body Grotesque Fit"/>
              </a:rPr>
              <a:t>, que no son más que una representación visual y estática del sistema a modelar.</a:t>
            </a:r>
          </a:p>
          <a:p>
            <a:pPr algn="l">
              <a:lnSpc>
                <a:spcPts val="4759"/>
              </a:lnSpc>
            </a:pPr>
            <a:endParaRPr lang="en-US" sz="3399">
              <a:solidFill>
                <a:srgbClr val="6B7280"/>
              </a:solidFill>
              <a:latin typeface="Body Grotesque Fit"/>
              <a:ea typeface="Body Grotesque Fit"/>
              <a:cs typeface="Body Grotesque Fit"/>
              <a:sym typeface="Body Grotesque Fit"/>
            </a:endParaRPr>
          </a:p>
          <a:p>
            <a:pPr algn="l">
              <a:lnSpc>
                <a:spcPts val="4759"/>
              </a:lnSpc>
            </a:pPr>
            <a:r>
              <a:rPr lang="en-US" sz="3399">
                <a:solidFill>
                  <a:srgbClr val="6B7280"/>
                </a:solidFill>
                <a:latin typeface="Body Grotesque Fit"/>
                <a:ea typeface="Body Grotesque Fit"/>
                <a:cs typeface="Body Grotesque Fit"/>
                <a:sym typeface="Body Grotesque Fit"/>
              </a:rPr>
              <a:t>Normalmente se utiliza un software dedicado a esto, acá vamos a utilizar </a:t>
            </a:r>
            <a:r>
              <a:rPr lang="en-US" sz="3399" b="1">
                <a:solidFill>
                  <a:srgbClr val="6B7280"/>
                </a:solidFill>
                <a:latin typeface="Body Grotesque Fit Bold"/>
                <a:ea typeface="Body Grotesque Fit Bold"/>
                <a:cs typeface="Body Grotesque Fit Bold"/>
                <a:sym typeface="Body Grotesque Fit Bold"/>
              </a:rPr>
              <a:t>Figma. </a:t>
            </a:r>
            <a:r>
              <a:rPr lang="en-US" sz="3399">
                <a:solidFill>
                  <a:srgbClr val="6B7280"/>
                </a:solidFill>
                <a:latin typeface="Body Grotesque Fit"/>
                <a:ea typeface="Body Grotesque Fit"/>
                <a:cs typeface="Body Grotesque Fit"/>
                <a:sym typeface="Body Grotesque Fit"/>
              </a:rPr>
              <a:t>Existen otras como: Balsamiq, Miro, Canva, etc. Figma es un estándar de la industria del desarrollo de software.</a:t>
            </a:r>
          </a:p>
        </p:txBody>
      </p:sp>
      <p:sp>
        <p:nvSpPr>
          <p:cNvPr id="7" name="TextBox 7"/>
          <p:cNvSpPr txBox="1"/>
          <p:nvPr/>
        </p:nvSpPr>
        <p:spPr>
          <a:xfrm>
            <a:off x="930128" y="1582321"/>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¿CÓMO EMPEZAMOS A DISEÑAR?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13537644" cy="1128383"/>
            <a:chOff x="0" y="0"/>
            <a:chExt cx="3565470" cy="297187"/>
          </a:xfrm>
        </p:grpSpPr>
        <p:sp>
          <p:nvSpPr>
            <p:cNvPr id="3" name="Freeform 3"/>
            <p:cNvSpPr/>
            <p:nvPr/>
          </p:nvSpPr>
          <p:spPr>
            <a:xfrm>
              <a:off x="0" y="0"/>
              <a:ext cx="3565470" cy="297187"/>
            </a:xfrm>
            <a:custGeom>
              <a:avLst/>
              <a:gdLst/>
              <a:ahLst/>
              <a:cxnLst/>
              <a:rect l="l" t="t" r="r" b="b"/>
              <a:pathLst>
                <a:path w="3565470" h="297187">
                  <a:moveTo>
                    <a:pt x="57188" y="0"/>
                  </a:moveTo>
                  <a:lnTo>
                    <a:pt x="3508282" y="0"/>
                  </a:lnTo>
                  <a:cubicBezTo>
                    <a:pt x="3539866" y="0"/>
                    <a:pt x="3565470" y="25604"/>
                    <a:pt x="3565470" y="57188"/>
                  </a:cubicBezTo>
                  <a:lnTo>
                    <a:pt x="3565470" y="239999"/>
                  </a:lnTo>
                  <a:cubicBezTo>
                    <a:pt x="3565470" y="271583"/>
                    <a:pt x="3539866" y="297187"/>
                    <a:pt x="3508282" y="297187"/>
                  </a:cubicBezTo>
                  <a:lnTo>
                    <a:pt x="57188" y="297187"/>
                  </a:lnTo>
                  <a:cubicBezTo>
                    <a:pt x="25604" y="297187"/>
                    <a:pt x="0" y="271583"/>
                    <a:pt x="0" y="239999"/>
                  </a:cubicBezTo>
                  <a:lnTo>
                    <a:pt x="0" y="57188"/>
                  </a:lnTo>
                  <a:cubicBezTo>
                    <a:pt x="0" y="25604"/>
                    <a:pt x="25604" y="0"/>
                    <a:pt x="57188" y="0"/>
                  </a:cubicBezTo>
                  <a:close/>
                </a:path>
              </a:pathLst>
            </a:custGeom>
            <a:solidFill>
              <a:srgbClr val="EAF2FF"/>
            </a:solidFill>
          </p:spPr>
        </p:sp>
        <p:sp>
          <p:nvSpPr>
            <p:cNvPr id="4" name="TextBox 4"/>
            <p:cNvSpPr txBox="1"/>
            <p:nvPr/>
          </p:nvSpPr>
          <p:spPr>
            <a:xfrm>
              <a:off x="0" y="-57150"/>
              <a:ext cx="3565470"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3161493" y="4891544"/>
            <a:ext cx="3651178" cy="1515391"/>
          </a:xfrm>
          <a:custGeom>
            <a:avLst/>
            <a:gdLst/>
            <a:ahLst/>
            <a:cxnLst/>
            <a:rect l="l" t="t" r="r" b="b"/>
            <a:pathLst>
              <a:path w="3651178" h="1515391">
                <a:moveTo>
                  <a:pt x="0" y="0"/>
                </a:moveTo>
                <a:lnTo>
                  <a:pt x="3651178" y="0"/>
                </a:lnTo>
                <a:lnTo>
                  <a:pt x="3651178" y="1515392"/>
                </a:lnTo>
                <a:lnTo>
                  <a:pt x="0" y="1515392"/>
                </a:lnTo>
                <a:lnTo>
                  <a:pt x="0" y="0"/>
                </a:lnTo>
                <a:close/>
              </a:path>
            </a:pathLst>
          </a:custGeom>
          <a:blipFill>
            <a:blip r:embed="rId2"/>
            <a:stretch>
              <a:fillRect/>
            </a:stretch>
          </a:blipFill>
        </p:spPr>
      </p:sp>
      <p:sp>
        <p:nvSpPr>
          <p:cNvPr id="6" name="Freeform 6"/>
          <p:cNvSpPr/>
          <p:nvPr/>
        </p:nvSpPr>
        <p:spPr>
          <a:xfrm>
            <a:off x="1205124" y="8005168"/>
            <a:ext cx="4305602" cy="1187752"/>
          </a:xfrm>
          <a:custGeom>
            <a:avLst/>
            <a:gdLst/>
            <a:ahLst/>
            <a:cxnLst/>
            <a:rect l="l" t="t" r="r" b="b"/>
            <a:pathLst>
              <a:path w="4305602" h="1187752">
                <a:moveTo>
                  <a:pt x="0" y="0"/>
                </a:moveTo>
                <a:lnTo>
                  <a:pt x="4305601" y="0"/>
                </a:lnTo>
                <a:lnTo>
                  <a:pt x="4305601" y="1187752"/>
                </a:lnTo>
                <a:lnTo>
                  <a:pt x="0" y="1187752"/>
                </a:lnTo>
                <a:lnTo>
                  <a:pt x="0" y="0"/>
                </a:lnTo>
                <a:close/>
              </a:path>
            </a:pathLst>
          </a:custGeom>
          <a:blipFill>
            <a:blip r:embed="rId3"/>
            <a:stretch>
              <a:fillRect/>
            </a:stretch>
          </a:blipFill>
        </p:spPr>
      </p:sp>
      <p:sp>
        <p:nvSpPr>
          <p:cNvPr id="7" name="Freeform 7"/>
          <p:cNvSpPr/>
          <p:nvPr/>
        </p:nvSpPr>
        <p:spPr>
          <a:xfrm>
            <a:off x="5932217" y="7999280"/>
            <a:ext cx="2839699" cy="1199528"/>
          </a:xfrm>
          <a:custGeom>
            <a:avLst/>
            <a:gdLst/>
            <a:ahLst/>
            <a:cxnLst/>
            <a:rect l="l" t="t" r="r" b="b"/>
            <a:pathLst>
              <a:path w="2839699" h="1199528">
                <a:moveTo>
                  <a:pt x="0" y="0"/>
                </a:moveTo>
                <a:lnTo>
                  <a:pt x="2839699" y="0"/>
                </a:lnTo>
                <a:lnTo>
                  <a:pt x="2839699" y="1199528"/>
                </a:lnTo>
                <a:lnTo>
                  <a:pt x="0" y="1199528"/>
                </a:lnTo>
                <a:lnTo>
                  <a:pt x="0" y="0"/>
                </a:lnTo>
                <a:close/>
              </a:path>
            </a:pathLst>
          </a:custGeom>
          <a:blipFill>
            <a:blip r:embed="rId4"/>
            <a:stretch>
              <a:fillRect/>
            </a:stretch>
          </a:blipFill>
        </p:spPr>
      </p:sp>
      <p:sp>
        <p:nvSpPr>
          <p:cNvPr id="8" name="Freeform 8"/>
          <p:cNvSpPr/>
          <p:nvPr/>
        </p:nvSpPr>
        <p:spPr>
          <a:xfrm>
            <a:off x="10413395" y="4891544"/>
            <a:ext cx="7571080" cy="1778748"/>
          </a:xfrm>
          <a:custGeom>
            <a:avLst/>
            <a:gdLst/>
            <a:ahLst/>
            <a:cxnLst/>
            <a:rect l="l" t="t" r="r" b="b"/>
            <a:pathLst>
              <a:path w="7571080" h="1778748">
                <a:moveTo>
                  <a:pt x="0" y="0"/>
                </a:moveTo>
                <a:lnTo>
                  <a:pt x="7571080" y="0"/>
                </a:lnTo>
                <a:lnTo>
                  <a:pt x="7571080" y="1778748"/>
                </a:lnTo>
                <a:lnTo>
                  <a:pt x="0" y="1778748"/>
                </a:lnTo>
                <a:lnTo>
                  <a:pt x="0" y="0"/>
                </a:lnTo>
                <a:close/>
              </a:path>
            </a:pathLst>
          </a:custGeom>
          <a:blipFill>
            <a:blip r:embed="rId5"/>
            <a:stretch>
              <a:fillRect/>
            </a:stretch>
          </a:blipFill>
        </p:spPr>
      </p:sp>
      <p:sp>
        <p:nvSpPr>
          <p:cNvPr id="9" name="Freeform 9"/>
          <p:cNvSpPr/>
          <p:nvPr/>
        </p:nvSpPr>
        <p:spPr>
          <a:xfrm>
            <a:off x="11665908" y="7788341"/>
            <a:ext cx="4872654" cy="2289166"/>
          </a:xfrm>
          <a:custGeom>
            <a:avLst/>
            <a:gdLst/>
            <a:ahLst/>
            <a:cxnLst/>
            <a:rect l="l" t="t" r="r" b="b"/>
            <a:pathLst>
              <a:path w="4872654" h="2289166">
                <a:moveTo>
                  <a:pt x="0" y="0"/>
                </a:moveTo>
                <a:lnTo>
                  <a:pt x="4872655" y="0"/>
                </a:lnTo>
                <a:lnTo>
                  <a:pt x="4872655" y="2289167"/>
                </a:lnTo>
                <a:lnTo>
                  <a:pt x="0" y="2289167"/>
                </a:lnTo>
                <a:lnTo>
                  <a:pt x="0" y="0"/>
                </a:lnTo>
                <a:close/>
              </a:path>
            </a:pathLst>
          </a:custGeom>
          <a:blipFill>
            <a:blip r:embed="rId6"/>
            <a:stretch>
              <a:fillRect/>
            </a:stretch>
          </a:blipFill>
        </p:spPr>
      </p:sp>
      <p:sp>
        <p:nvSpPr>
          <p:cNvPr id="10" name="TextBox 10"/>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COMPONENTES ESTÁTICOS</a:t>
            </a:r>
          </a:p>
        </p:txBody>
      </p:sp>
      <p:sp>
        <p:nvSpPr>
          <p:cNvPr id="11" name="TextBox 11"/>
          <p:cNvSpPr txBox="1"/>
          <p:nvPr/>
        </p:nvSpPr>
        <p:spPr>
          <a:xfrm>
            <a:off x="839620" y="1975263"/>
            <a:ext cx="16329172" cy="1780540"/>
          </a:xfrm>
          <a:prstGeom prst="rect">
            <a:avLst/>
          </a:prstGeom>
        </p:spPr>
        <p:txBody>
          <a:bodyPr lIns="0" tIns="0" rIns="0" bIns="0" rtlCol="0" anchor="t">
            <a:spAutoFit/>
          </a:bodyPr>
          <a:lstStyle/>
          <a:p>
            <a:pPr algn="l">
              <a:lnSpc>
                <a:spcPts val="4759"/>
              </a:lnSpc>
            </a:pPr>
            <a:r>
              <a:rPr lang="en-US" sz="3399">
                <a:solidFill>
                  <a:srgbClr val="6B7280"/>
                </a:solidFill>
                <a:latin typeface="Body Grotesque Fit"/>
                <a:ea typeface="Body Grotesque Fit"/>
                <a:cs typeface="Body Grotesque Fit"/>
                <a:sym typeface="Body Grotesque Fit"/>
              </a:rPr>
              <a:t>Dependiendo del sistema que se quiere diseñar, y las acciones que realiza tanto el usuario como el sistema en sí, normalmente se van a utilizar una serie de </a:t>
            </a:r>
            <a:r>
              <a:rPr lang="en-US" sz="3399" b="1">
                <a:solidFill>
                  <a:srgbClr val="6B7280"/>
                </a:solidFill>
                <a:latin typeface="Body Grotesque Fit Bold"/>
                <a:ea typeface="Body Grotesque Fit Bold"/>
                <a:cs typeface="Body Grotesque Fit Bold"/>
                <a:sym typeface="Body Grotesque Fit Bold"/>
              </a:rPr>
              <a:t>componentes estáticos básicos</a:t>
            </a:r>
            <a:r>
              <a:rPr lang="en-US" sz="3399">
                <a:solidFill>
                  <a:srgbClr val="6B7280"/>
                </a:solidFill>
                <a:latin typeface="Body Grotesque Fit"/>
                <a:ea typeface="Body Grotesque Fit"/>
                <a:cs typeface="Body Grotesque Fit"/>
                <a:sym typeface="Body Grotesque Fit"/>
              </a:rPr>
              <a:t>.</a:t>
            </a:r>
          </a:p>
        </p:txBody>
      </p:sp>
      <p:sp>
        <p:nvSpPr>
          <p:cNvPr id="12" name="TextBox 12"/>
          <p:cNvSpPr txBox="1"/>
          <p:nvPr/>
        </p:nvSpPr>
        <p:spPr>
          <a:xfrm>
            <a:off x="2127228" y="4222528"/>
            <a:ext cx="6001224" cy="580390"/>
          </a:xfrm>
          <a:prstGeom prst="rect">
            <a:avLst/>
          </a:prstGeom>
        </p:spPr>
        <p:txBody>
          <a:bodyPr lIns="0" tIns="0" rIns="0" bIns="0" rtlCol="0" anchor="t">
            <a:spAutoFit/>
          </a:bodyPr>
          <a:lstStyle/>
          <a:p>
            <a:pPr algn="ctr">
              <a:lnSpc>
                <a:spcPts val="4759"/>
              </a:lnSpc>
            </a:pPr>
            <a:r>
              <a:rPr lang="en-US" sz="3399" b="1">
                <a:solidFill>
                  <a:srgbClr val="6B7280"/>
                </a:solidFill>
                <a:latin typeface="Body Grotesque Fit Bold"/>
                <a:ea typeface="Body Grotesque Fit Bold"/>
                <a:cs typeface="Body Grotesque Fit Bold"/>
                <a:sym typeface="Body Grotesque Fit Bold"/>
              </a:rPr>
              <a:t>Acciones del usuario</a:t>
            </a:r>
          </a:p>
        </p:txBody>
      </p:sp>
      <p:sp>
        <p:nvSpPr>
          <p:cNvPr id="13" name="TextBox 13"/>
          <p:cNvSpPr txBox="1"/>
          <p:nvPr/>
        </p:nvSpPr>
        <p:spPr>
          <a:xfrm>
            <a:off x="1532749" y="7207951"/>
            <a:ext cx="6943204" cy="580390"/>
          </a:xfrm>
          <a:prstGeom prst="rect">
            <a:avLst/>
          </a:prstGeom>
        </p:spPr>
        <p:txBody>
          <a:bodyPr lIns="0" tIns="0" rIns="0" bIns="0" rtlCol="0" anchor="t">
            <a:spAutoFit/>
          </a:bodyPr>
          <a:lstStyle/>
          <a:p>
            <a:pPr algn="ctr">
              <a:lnSpc>
                <a:spcPts val="4759"/>
              </a:lnSpc>
            </a:pPr>
            <a:r>
              <a:rPr lang="en-US" sz="3399" b="1">
                <a:solidFill>
                  <a:srgbClr val="6B7280"/>
                </a:solidFill>
                <a:latin typeface="Body Grotesque Fit Bold"/>
                <a:ea typeface="Body Grotesque Fit Bold"/>
                <a:cs typeface="Body Grotesque Fit Bold"/>
                <a:sym typeface="Body Grotesque Fit Bold"/>
              </a:rPr>
              <a:t>Ingreso de información</a:t>
            </a:r>
          </a:p>
        </p:txBody>
      </p:sp>
      <p:sp>
        <p:nvSpPr>
          <p:cNvPr id="14" name="TextBox 14"/>
          <p:cNvSpPr txBox="1"/>
          <p:nvPr/>
        </p:nvSpPr>
        <p:spPr>
          <a:xfrm>
            <a:off x="10084340" y="4222528"/>
            <a:ext cx="7900135" cy="580390"/>
          </a:xfrm>
          <a:prstGeom prst="rect">
            <a:avLst/>
          </a:prstGeom>
        </p:spPr>
        <p:txBody>
          <a:bodyPr lIns="0" tIns="0" rIns="0" bIns="0" rtlCol="0" anchor="t">
            <a:spAutoFit/>
          </a:bodyPr>
          <a:lstStyle/>
          <a:p>
            <a:pPr algn="ctr">
              <a:lnSpc>
                <a:spcPts val="4759"/>
              </a:lnSpc>
            </a:pPr>
            <a:r>
              <a:rPr lang="en-US" sz="3399" b="1">
                <a:solidFill>
                  <a:srgbClr val="6B7280"/>
                </a:solidFill>
                <a:latin typeface="Body Grotesque Fit Bold"/>
                <a:ea typeface="Body Grotesque Fit Bold"/>
                <a:cs typeface="Body Grotesque Fit Bold"/>
                <a:sym typeface="Body Grotesque Fit Bold"/>
              </a:rPr>
              <a:t>Visualización de información</a:t>
            </a:r>
          </a:p>
        </p:txBody>
      </p:sp>
      <p:sp>
        <p:nvSpPr>
          <p:cNvPr id="15" name="TextBox 15"/>
          <p:cNvSpPr txBox="1"/>
          <p:nvPr/>
        </p:nvSpPr>
        <p:spPr>
          <a:xfrm>
            <a:off x="10809514" y="7207951"/>
            <a:ext cx="6449786" cy="580390"/>
          </a:xfrm>
          <a:prstGeom prst="rect">
            <a:avLst/>
          </a:prstGeom>
        </p:spPr>
        <p:txBody>
          <a:bodyPr lIns="0" tIns="0" rIns="0" bIns="0" rtlCol="0" anchor="t">
            <a:spAutoFit/>
          </a:bodyPr>
          <a:lstStyle/>
          <a:p>
            <a:pPr algn="ctr">
              <a:lnSpc>
                <a:spcPts val="4759"/>
              </a:lnSpc>
            </a:pPr>
            <a:r>
              <a:rPr lang="en-US" sz="3399" b="1">
                <a:solidFill>
                  <a:srgbClr val="6B7280"/>
                </a:solidFill>
                <a:latin typeface="Body Grotesque Fit Bold"/>
                <a:ea typeface="Body Grotesque Fit Bold"/>
                <a:cs typeface="Body Grotesque Fit Bold"/>
                <a:sym typeface="Body Grotesque Fit Bold"/>
              </a:rPr>
              <a:t>Respuesta del sistema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13537644" cy="1128383"/>
            <a:chOff x="0" y="0"/>
            <a:chExt cx="3565470" cy="297187"/>
          </a:xfrm>
        </p:grpSpPr>
        <p:sp>
          <p:nvSpPr>
            <p:cNvPr id="3" name="Freeform 3"/>
            <p:cNvSpPr/>
            <p:nvPr/>
          </p:nvSpPr>
          <p:spPr>
            <a:xfrm>
              <a:off x="0" y="0"/>
              <a:ext cx="3565470" cy="297187"/>
            </a:xfrm>
            <a:custGeom>
              <a:avLst/>
              <a:gdLst/>
              <a:ahLst/>
              <a:cxnLst/>
              <a:rect l="l" t="t" r="r" b="b"/>
              <a:pathLst>
                <a:path w="3565470" h="297187">
                  <a:moveTo>
                    <a:pt x="57188" y="0"/>
                  </a:moveTo>
                  <a:lnTo>
                    <a:pt x="3508282" y="0"/>
                  </a:lnTo>
                  <a:cubicBezTo>
                    <a:pt x="3539866" y="0"/>
                    <a:pt x="3565470" y="25604"/>
                    <a:pt x="3565470" y="57188"/>
                  </a:cubicBezTo>
                  <a:lnTo>
                    <a:pt x="3565470" y="239999"/>
                  </a:lnTo>
                  <a:cubicBezTo>
                    <a:pt x="3565470" y="271583"/>
                    <a:pt x="3539866" y="297187"/>
                    <a:pt x="3508282" y="297187"/>
                  </a:cubicBezTo>
                  <a:lnTo>
                    <a:pt x="57188" y="297187"/>
                  </a:lnTo>
                  <a:cubicBezTo>
                    <a:pt x="25604" y="297187"/>
                    <a:pt x="0" y="271583"/>
                    <a:pt x="0" y="239999"/>
                  </a:cubicBezTo>
                  <a:lnTo>
                    <a:pt x="0" y="57188"/>
                  </a:lnTo>
                  <a:cubicBezTo>
                    <a:pt x="0" y="25604"/>
                    <a:pt x="25604" y="0"/>
                    <a:pt x="57188" y="0"/>
                  </a:cubicBezTo>
                  <a:close/>
                </a:path>
              </a:pathLst>
            </a:custGeom>
            <a:solidFill>
              <a:srgbClr val="EAF2FF"/>
            </a:solidFill>
          </p:spPr>
        </p:sp>
        <p:sp>
          <p:nvSpPr>
            <p:cNvPr id="4" name="TextBox 4"/>
            <p:cNvSpPr txBox="1"/>
            <p:nvPr/>
          </p:nvSpPr>
          <p:spPr>
            <a:xfrm>
              <a:off x="0" y="-57150"/>
              <a:ext cx="3565470"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2601885" y="2285923"/>
            <a:ext cx="13084230" cy="7359879"/>
          </a:xfrm>
          <a:custGeom>
            <a:avLst/>
            <a:gdLst/>
            <a:ahLst/>
            <a:cxnLst/>
            <a:rect l="l" t="t" r="r" b="b"/>
            <a:pathLst>
              <a:path w="13084230" h="7359879">
                <a:moveTo>
                  <a:pt x="0" y="0"/>
                </a:moveTo>
                <a:lnTo>
                  <a:pt x="13084230" y="0"/>
                </a:lnTo>
                <a:lnTo>
                  <a:pt x="13084230" y="7359880"/>
                </a:lnTo>
                <a:lnTo>
                  <a:pt x="0" y="7359880"/>
                </a:lnTo>
                <a:lnTo>
                  <a:pt x="0" y="0"/>
                </a:lnTo>
                <a:close/>
              </a:path>
            </a:pathLst>
          </a:custGeom>
          <a:blipFill>
            <a:blip r:embed="rId2"/>
            <a:stretch>
              <a:fillRect/>
            </a:stretch>
          </a:blipFill>
        </p:spPr>
      </p:sp>
      <p:sp>
        <p:nvSpPr>
          <p:cNvPr id="6" name="TextBox 6"/>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COMPONENTES COMPUESTOS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13537644" cy="1128383"/>
            <a:chOff x="0" y="0"/>
            <a:chExt cx="3565470" cy="297187"/>
          </a:xfrm>
        </p:grpSpPr>
        <p:sp>
          <p:nvSpPr>
            <p:cNvPr id="3" name="Freeform 3"/>
            <p:cNvSpPr/>
            <p:nvPr/>
          </p:nvSpPr>
          <p:spPr>
            <a:xfrm>
              <a:off x="0" y="0"/>
              <a:ext cx="3565470" cy="297187"/>
            </a:xfrm>
            <a:custGeom>
              <a:avLst/>
              <a:gdLst/>
              <a:ahLst/>
              <a:cxnLst/>
              <a:rect l="l" t="t" r="r" b="b"/>
              <a:pathLst>
                <a:path w="3565470" h="297187">
                  <a:moveTo>
                    <a:pt x="57188" y="0"/>
                  </a:moveTo>
                  <a:lnTo>
                    <a:pt x="3508282" y="0"/>
                  </a:lnTo>
                  <a:cubicBezTo>
                    <a:pt x="3539866" y="0"/>
                    <a:pt x="3565470" y="25604"/>
                    <a:pt x="3565470" y="57188"/>
                  </a:cubicBezTo>
                  <a:lnTo>
                    <a:pt x="3565470" y="239999"/>
                  </a:lnTo>
                  <a:cubicBezTo>
                    <a:pt x="3565470" y="271583"/>
                    <a:pt x="3539866" y="297187"/>
                    <a:pt x="3508282" y="297187"/>
                  </a:cubicBezTo>
                  <a:lnTo>
                    <a:pt x="57188" y="297187"/>
                  </a:lnTo>
                  <a:cubicBezTo>
                    <a:pt x="25604" y="297187"/>
                    <a:pt x="0" y="271583"/>
                    <a:pt x="0" y="239999"/>
                  </a:cubicBezTo>
                  <a:lnTo>
                    <a:pt x="0" y="57188"/>
                  </a:lnTo>
                  <a:cubicBezTo>
                    <a:pt x="0" y="25604"/>
                    <a:pt x="25604" y="0"/>
                    <a:pt x="57188" y="0"/>
                  </a:cubicBezTo>
                  <a:close/>
                </a:path>
              </a:pathLst>
            </a:custGeom>
            <a:solidFill>
              <a:srgbClr val="EAF2FF"/>
            </a:solidFill>
          </p:spPr>
        </p:sp>
        <p:sp>
          <p:nvSpPr>
            <p:cNvPr id="4" name="TextBox 4"/>
            <p:cNvSpPr txBox="1"/>
            <p:nvPr/>
          </p:nvSpPr>
          <p:spPr>
            <a:xfrm>
              <a:off x="0" y="-57150"/>
              <a:ext cx="3565470"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2601885" y="2211163"/>
            <a:ext cx="13084230" cy="7359879"/>
          </a:xfrm>
          <a:custGeom>
            <a:avLst/>
            <a:gdLst/>
            <a:ahLst/>
            <a:cxnLst/>
            <a:rect l="l" t="t" r="r" b="b"/>
            <a:pathLst>
              <a:path w="13084230" h="7359879">
                <a:moveTo>
                  <a:pt x="0" y="0"/>
                </a:moveTo>
                <a:lnTo>
                  <a:pt x="13084230" y="0"/>
                </a:lnTo>
                <a:lnTo>
                  <a:pt x="13084230" y="7359880"/>
                </a:lnTo>
                <a:lnTo>
                  <a:pt x="0" y="7359880"/>
                </a:lnTo>
                <a:lnTo>
                  <a:pt x="0" y="0"/>
                </a:lnTo>
                <a:close/>
              </a:path>
            </a:pathLst>
          </a:custGeom>
          <a:blipFill>
            <a:blip r:embed="rId2"/>
            <a:stretch>
              <a:fillRect/>
            </a:stretch>
          </a:blipFill>
        </p:spPr>
      </p:sp>
      <p:sp>
        <p:nvSpPr>
          <p:cNvPr id="6" name="TextBox 6"/>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COMPONENTES COMPUESTOS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13537644" cy="1128383"/>
            <a:chOff x="0" y="0"/>
            <a:chExt cx="3565470" cy="297187"/>
          </a:xfrm>
        </p:grpSpPr>
        <p:sp>
          <p:nvSpPr>
            <p:cNvPr id="3" name="Freeform 3"/>
            <p:cNvSpPr/>
            <p:nvPr/>
          </p:nvSpPr>
          <p:spPr>
            <a:xfrm>
              <a:off x="0" y="0"/>
              <a:ext cx="3565470" cy="297187"/>
            </a:xfrm>
            <a:custGeom>
              <a:avLst/>
              <a:gdLst/>
              <a:ahLst/>
              <a:cxnLst/>
              <a:rect l="l" t="t" r="r" b="b"/>
              <a:pathLst>
                <a:path w="3565470" h="297187">
                  <a:moveTo>
                    <a:pt x="57188" y="0"/>
                  </a:moveTo>
                  <a:lnTo>
                    <a:pt x="3508282" y="0"/>
                  </a:lnTo>
                  <a:cubicBezTo>
                    <a:pt x="3539866" y="0"/>
                    <a:pt x="3565470" y="25604"/>
                    <a:pt x="3565470" y="57188"/>
                  </a:cubicBezTo>
                  <a:lnTo>
                    <a:pt x="3565470" y="239999"/>
                  </a:lnTo>
                  <a:cubicBezTo>
                    <a:pt x="3565470" y="271583"/>
                    <a:pt x="3539866" y="297187"/>
                    <a:pt x="3508282" y="297187"/>
                  </a:cubicBezTo>
                  <a:lnTo>
                    <a:pt x="57188" y="297187"/>
                  </a:lnTo>
                  <a:cubicBezTo>
                    <a:pt x="25604" y="297187"/>
                    <a:pt x="0" y="271583"/>
                    <a:pt x="0" y="239999"/>
                  </a:cubicBezTo>
                  <a:lnTo>
                    <a:pt x="0" y="57188"/>
                  </a:lnTo>
                  <a:cubicBezTo>
                    <a:pt x="0" y="25604"/>
                    <a:pt x="25604" y="0"/>
                    <a:pt x="57188" y="0"/>
                  </a:cubicBezTo>
                  <a:close/>
                </a:path>
              </a:pathLst>
            </a:custGeom>
            <a:solidFill>
              <a:srgbClr val="EAF2FF"/>
            </a:solidFill>
          </p:spPr>
        </p:sp>
        <p:sp>
          <p:nvSpPr>
            <p:cNvPr id="4" name="TextBox 4"/>
            <p:cNvSpPr txBox="1"/>
            <p:nvPr/>
          </p:nvSpPr>
          <p:spPr>
            <a:xfrm>
              <a:off x="0" y="-57150"/>
              <a:ext cx="3565470"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4624371" y="5317903"/>
            <a:ext cx="8212966" cy="4619793"/>
          </a:xfrm>
          <a:custGeom>
            <a:avLst/>
            <a:gdLst/>
            <a:ahLst/>
            <a:cxnLst/>
            <a:rect l="l" t="t" r="r" b="b"/>
            <a:pathLst>
              <a:path w="8212966" h="4619793">
                <a:moveTo>
                  <a:pt x="0" y="0"/>
                </a:moveTo>
                <a:lnTo>
                  <a:pt x="8212966" y="0"/>
                </a:lnTo>
                <a:lnTo>
                  <a:pt x="8212966" y="4619793"/>
                </a:lnTo>
                <a:lnTo>
                  <a:pt x="0" y="4619793"/>
                </a:lnTo>
                <a:lnTo>
                  <a:pt x="0" y="0"/>
                </a:lnTo>
                <a:close/>
              </a:path>
            </a:pathLst>
          </a:custGeom>
          <a:blipFill>
            <a:blip r:embed="rId2"/>
            <a:stretch>
              <a:fillRect/>
            </a:stretch>
          </a:blipFill>
        </p:spPr>
      </p:sp>
      <p:sp>
        <p:nvSpPr>
          <p:cNvPr id="6" name="TextBox 6"/>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ESTADO DE LOS COMPONENTES</a:t>
            </a:r>
          </a:p>
        </p:txBody>
      </p:sp>
      <p:sp>
        <p:nvSpPr>
          <p:cNvPr id="7" name="TextBox 7"/>
          <p:cNvSpPr txBox="1"/>
          <p:nvPr/>
        </p:nvSpPr>
        <p:spPr>
          <a:xfrm>
            <a:off x="839620" y="1975263"/>
            <a:ext cx="16329172" cy="2980690"/>
          </a:xfrm>
          <a:prstGeom prst="rect">
            <a:avLst/>
          </a:prstGeom>
        </p:spPr>
        <p:txBody>
          <a:bodyPr lIns="0" tIns="0" rIns="0" bIns="0" rtlCol="0" anchor="t">
            <a:spAutoFit/>
          </a:bodyPr>
          <a:lstStyle/>
          <a:p>
            <a:pPr algn="just">
              <a:lnSpc>
                <a:spcPts val="4759"/>
              </a:lnSpc>
            </a:pPr>
            <a:r>
              <a:rPr lang="en-US" sz="3399">
                <a:solidFill>
                  <a:srgbClr val="6B7280"/>
                </a:solidFill>
                <a:latin typeface="Body Grotesque Fit"/>
                <a:ea typeface="Body Grotesque Fit"/>
                <a:cs typeface="Body Grotesque Fit"/>
                <a:sym typeface="Body Grotesque Fit"/>
              </a:rPr>
              <a:t>Los componentes pueden tener distintos </a:t>
            </a:r>
            <a:r>
              <a:rPr lang="en-US" sz="3399" b="1">
                <a:solidFill>
                  <a:srgbClr val="6B7280"/>
                </a:solidFill>
                <a:latin typeface="Body Grotesque Fit Bold"/>
                <a:ea typeface="Body Grotesque Fit Bold"/>
                <a:cs typeface="Body Grotesque Fit Bold"/>
                <a:sym typeface="Body Grotesque Fit Bold"/>
              </a:rPr>
              <a:t>estados</a:t>
            </a:r>
            <a:r>
              <a:rPr lang="en-US" sz="3399">
                <a:solidFill>
                  <a:srgbClr val="6B7280"/>
                </a:solidFill>
                <a:latin typeface="Body Grotesque Fit"/>
                <a:ea typeface="Body Grotesque Fit"/>
                <a:cs typeface="Body Grotesque Fit"/>
                <a:sym typeface="Body Grotesque Fit"/>
              </a:rPr>
              <a:t>. Cada estado indica cómo se ve el componente y cómo responde en ese momento. Puede cambiar por una interacción del usuario, como pasar el cursor o hacer clic, o por una condición del sistema, como una operación en curso. No todos los componentes necesitan los mismos estados ni los recorren en un orden fijo.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9351069" cy="1128383"/>
            <a:chOff x="0" y="0"/>
            <a:chExt cx="2462833" cy="297187"/>
          </a:xfrm>
        </p:grpSpPr>
        <p:sp>
          <p:nvSpPr>
            <p:cNvPr id="3" name="Freeform 3"/>
            <p:cNvSpPr/>
            <p:nvPr/>
          </p:nvSpPr>
          <p:spPr>
            <a:xfrm>
              <a:off x="0" y="0"/>
              <a:ext cx="2462833" cy="297187"/>
            </a:xfrm>
            <a:custGeom>
              <a:avLst/>
              <a:gdLst/>
              <a:ahLst/>
              <a:cxnLst/>
              <a:rect l="l" t="t" r="r" b="b"/>
              <a:pathLst>
                <a:path w="2462833" h="297187">
                  <a:moveTo>
                    <a:pt x="82792" y="0"/>
                  </a:moveTo>
                  <a:lnTo>
                    <a:pt x="2380041" y="0"/>
                  </a:lnTo>
                  <a:cubicBezTo>
                    <a:pt x="2401999" y="0"/>
                    <a:pt x="2423057" y="8723"/>
                    <a:pt x="2438584" y="24249"/>
                  </a:cubicBezTo>
                  <a:cubicBezTo>
                    <a:pt x="2454110" y="39776"/>
                    <a:pt x="2462833" y="60834"/>
                    <a:pt x="2462833" y="82792"/>
                  </a:cubicBezTo>
                  <a:lnTo>
                    <a:pt x="2462833" y="214395"/>
                  </a:lnTo>
                  <a:cubicBezTo>
                    <a:pt x="2462833" y="236353"/>
                    <a:pt x="2454110" y="257412"/>
                    <a:pt x="2438584" y="272938"/>
                  </a:cubicBezTo>
                  <a:cubicBezTo>
                    <a:pt x="2423057" y="288464"/>
                    <a:pt x="2401999" y="297187"/>
                    <a:pt x="2380041" y="297187"/>
                  </a:cubicBezTo>
                  <a:lnTo>
                    <a:pt x="82792" y="297187"/>
                  </a:lnTo>
                  <a:cubicBezTo>
                    <a:pt x="60834" y="297187"/>
                    <a:pt x="39776" y="288464"/>
                    <a:pt x="24249" y="272938"/>
                  </a:cubicBezTo>
                  <a:cubicBezTo>
                    <a:pt x="8723" y="257412"/>
                    <a:pt x="0" y="236353"/>
                    <a:pt x="0" y="214395"/>
                  </a:cubicBezTo>
                  <a:lnTo>
                    <a:pt x="0" y="82792"/>
                  </a:lnTo>
                  <a:cubicBezTo>
                    <a:pt x="0" y="60834"/>
                    <a:pt x="8723" y="39776"/>
                    <a:pt x="24249" y="24249"/>
                  </a:cubicBezTo>
                  <a:cubicBezTo>
                    <a:pt x="39776" y="8723"/>
                    <a:pt x="60834" y="0"/>
                    <a:pt x="82792" y="0"/>
                  </a:cubicBezTo>
                  <a:close/>
                </a:path>
              </a:pathLst>
            </a:custGeom>
            <a:solidFill>
              <a:srgbClr val="EAF2FF"/>
            </a:solidFill>
          </p:spPr>
        </p:sp>
        <p:sp>
          <p:nvSpPr>
            <p:cNvPr id="4" name="TextBox 4"/>
            <p:cNvSpPr txBox="1"/>
            <p:nvPr/>
          </p:nvSpPr>
          <p:spPr>
            <a:xfrm>
              <a:off x="0" y="-57150"/>
              <a:ext cx="2462833"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12930908" y="7131754"/>
            <a:ext cx="1493771" cy="2239957"/>
          </a:xfrm>
          <a:custGeom>
            <a:avLst/>
            <a:gdLst/>
            <a:ahLst/>
            <a:cxnLst/>
            <a:rect l="l" t="t" r="r" b="b"/>
            <a:pathLst>
              <a:path w="1493771" h="2239957">
                <a:moveTo>
                  <a:pt x="0" y="0"/>
                </a:moveTo>
                <a:lnTo>
                  <a:pt x="1493771" y="0"/>
                </a:lnTo>
                <a:lnTo>
                  <a:pt x="1493771" y="2239957"/>
                </a:lnTo>
                <a:lnTo>
                  <a:pt x="0" y="2239957"/>
                </a:lnTo>
                <a:lnTo>
                  <a:pt x="0" y="0"/>
                </a:lnTo>
                <a:close/>
              </a:path>
            </a:pathLst>
          </a:custGeom>
          <a:blipFill>
            <a:blip r:embed="rId3"/>
            <a:stretch>
              <a:fillRect/>
            </a:stretch>
          </a:blipFill>
        </p:spPr>
      </p:sp>
      <p:sp>
        <p:nvSpPr>
          <p:cNvPr id="6" name="Freeform 6"/>
          <p:cNvSpPr/>
          <p:nvPr/>
        </p:nvSpPr>
        <p:spPr>
          <a:xfrm>
            <a:off x="9944052" y="2375341"/>
            <a:ext cx="7595645" cy="3874619"/>
          </a:xfrm>
          <a:custGeom>
            <a:avLst/>
            <a:gdLst/>
            <a:ahLst/>
            <a:cxnLst/>
            <a:rect l="l" t="t" r="r" b="b"/>
            <a:pathLst>
              <a:path w="7595645" h="3874619">
                <a:moveTo>
                  <a:pt x="0" y="0"/>
                </a:moveTo>
                <a:lnTo>
                  <a:pt x="7595644" y="0"/>
                </a:lnTo>
                <a:lnTo>
                  <a:pt x="7595644" y="3874618"/>
                </a:lnTo>
                <a:lnTo>
                  <a:pt x="0" y="3874618"/>
                </a:lnTo>
                <a:lnTo>
                  <a:pt x="0" y="0"/>
                </a:lnTo>
                <a:close/>
              </a:path>
            </a:pathLst>
          </a:custGeom>
          <a:blipFill>
            <a:blip r:embed="rId4"/>
            <a:stretch>
              <a:fillRect l="-6526" t="-11935" r="-5787" b="-12051"/>
            </a:stretch>
          </a:blipFill>
        </p:spPr>
      </p:sp>
      <p:sp>
        <p:nvSpPr>
          <p:cNvPr id="7" name="TextBox 7"/>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¿QUÉ ES?</a:t>
            </a:r>
          </a:p>
        </p:txBody>
      </p:sp>
      <p:sp>
        <p:nvSpPr>
          <p:cNvPr id="8" name="TextBox 8"/>
          <p:cNvSpPr txBox="1"/>
          <p:nvPr/>
        </p:nvSpPr>
        <p:spPr>
          <a:xfrm>
            <a:off x="839620" y="2166385"/>
            <a:ext cx="8434487" cy="71812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Es un </a:t>
            </a:r>
            <a:r>
              <a:rPr lang="en-US" sz="3399" b="1">
                <a:solidFill>
                  <a:srgbClr val="6B7280"/>
                </a:solidFill>
                <a:latin typeface="Body Grotesque Fit Bold"/>
                <a:ea typeface="Body Grotesque Fit Bold"/>
                <a:cs typeface="Body Grotesque Fit Bold"/>
                <a:sym typeface="Body Grotesque Fit Bold"/>
              </a:rPr>
              <a:t>software como servicio (SAAS)</a:t>
            </a:r>
            <a:r>
              <a:rPr lang="en-US" sz="3399">
                <a:solidFill>
                  <a:srgbClr val="6B7280"/>
                </a:solidFill>
                <a:latin typeface="Body Grotesque Fit"/>
                <a:ea typeface="Body Grotesque Fit"/>
                <a:cs typeface="Body Grotesque Fit"/>
                <a:sym typeface="Body Grotesque Fit"/>
              </a:rPr>
              <a:t> en la nube que sirve para diseño de interfaces de usuario y productos digitales.</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Sitios web, aplicaciones móviles, sistemas en general.</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Permite la creación de wireframes, componentes reutilizables y prototipos dinámicos.</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Integración con herramientas de desarrollo que veremos más adelante.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2322" y="549188"/>
            <a:ext cx="18612019" cy="1128383"/>
            <a:chOff x="0" y="0"/>
            <a:chExt cx="4901931" cy="297187"/>
          </a:xfrm>
        </p:grpSpPr>
        <p:sp>
          <p:nvSpPr>
            <p:cNvPr id="3" name="Freeform 3"/>
            <p:cNvSpPr/>
            <p:nvPr/>
          </p:nvSpPr>
          <p:spPr>
            <a:xfrm>
              <a:off x="0" y="0"/>
              <a:ext cx="4901931" cy="297187"/>
            </a:xfrm>
            <a:custGeom>
              <a:avLst/>
              <a:gdLst/>
              <a:ahLst/>
              <a:cxnLst/>
              <a:rect l="l" t="t" r="r" b="b"/>
              <a:pathLst>
                <a:path w="4901931" h="297187">
                  <a:moveTo>
                    <a:pt x="41596" y="0"/>
                  </a:moveTo>
                  <a:lnTo>
                    <a:pt x="4860335" y="0"/>
                  </a:lnTo>
                  <a:cubicBezTo>
                    <a:pt x="4871367" y="0"/>
                    <a:pt x="4881947" y="4382"/>
                    <a:pt x="4889748" y="12183"/>
                  </a:cubicBezTo>
                  <a:cubicBezTo>
                    <a:pt x="4897549" y="19984"/>
                    <a:pt x="4901931" y="30564"/>
                    <a:pt x="4901931" y="41596"/>
                  </a:cubicBezTo>
                  <a:lnTo>
                    <a:pt x="4901931" y="255591"/>
                  </a:lnTo>
                  <a:cubicBezTo>
                    <a:pt x="4901931" y="266623"/>
                    <a:pt x="4897549" y="277203"/>
                    <a:pt x="4889748" y="285004"/>
                  </a:cubicBezTo>
                  <a:cubicBezTo>
                    <a:pt x="4881947" y="292805"/>
                    <a:pt x="4871367" y="297187"/>
                    <a:pt x="4860335" y="297187"/>
                  </a:cubicBezTo>
                  <a:lnTo>
                    <a:pt x="41596" y="297187"/>
                  </a:lnTo>
                  <a:cubicBezTo>
                    <a:pt x="30564" y="297187"/>
                    <a:pt x="19984" y="292805"/>
                    <a:pt x="12183" y="285004"/>
                  </a:cubicBezTo>
                  <a:cubicBezTo>
                    <a:pt x="4382" y="277203"/>
                    <a:pt x="0" y="266623"/>
                    <a:pt x="0" y="255591"/>
                  </a:cubicBezTo>
                  <a:lnTo>
                    <a:pt x="0" y="41596"/>
                  </a:lnTo>
                  <a:cubicBezTo>
                    <a:pt x="0" y="30564"/>
                    <a:pt x="4382" y="19984"/>
                    <a:pt x="12183" y="12183"/>
                  </a:cubicBezTo>
                  <a:cubicBezTo>
                    <a:pt x="19984" y="4382"/>
                    <a:pt x="30564" y="0"/>
                    <a:pt x="41596" y="0"/>
                  </a:cubicBezTo>
                  <a:close/>
                </a:path>
              </a:pathLst>
            </a:custGeom>
            <a:solidFill>
              <a:srgbClr val="EAF2FF"/>
            </a:solidFill>
          </p:spPr>
        </p:sp>
        <p:sp>
          <p:nvSpPr>
            <p:cNvPr id="4" name="TextBox 4"/>
            <p:cNvSpPr txBox="1"/>
            <p:nvPr/>
          </p:nvSpPr>
          <p:spPr>
            <a:xfrm>
              <a:off x="0" y="-57150"/>
              <a:ext cx="4901931" cy="354337"/>
            </a:xfrm>
            <a:prstGeom prst="rect">
              <a:avLst/>
            </a:prstGeom>
          </p:spPr>
          <p:txBody>
            <a:bodyPr lIns="50800" tIns="50800" rIns="50800" bIns="50800" rtlCol="0" anchor="ctr"/>
            <a:lstStyle/>
            <a:p>
              <a:pPr algn="ctr">
                <a:lnSpc>
                  <a:spcPts val="3584"/>
                </a:lnSpc>
              </a:pPr>
              <a:endParaRPr/>
            </a:p>
          </p:txBody>
        </p:sp>
      </p:grpSp>
      <p:sp>
        <p:nvSpPr>
          <p:cNvPr id="5" name="Freeform 5"/>
          <p:cNvSpPr/>
          <p:nvPr/>
        </p:nvSpPr>
        <p:spPr>
          <a:xfrm>
            <a:off x="636707" y="1864780"/>
            <a:ext cx="17014585" cy="8422220"/>
          </a:xfrm>
          <a:custGeom>
            <a:avLst/>
            <a:gdLst/>
            <a:ahLst/>
            <a:cxnLst/>
            <a:rect l="l" t="t" r="r" b="b"/>
            <a:pathLst>
              <a:path w="17014585" h="8422220">
                <a:moveTo>
                  <a:pt x="0" y="0"/>
                </a:moveTo>
                <a:lnTo>
                  <a:pt x="17014586" y="0"/>
                </a:lnTo>
                <a:lnTo>
                  <a:pt x="17014586" y="8422220"/>
                </a:lnTo>
                <a:lnTo>
                  <a:pt x="0" y="8422220"/>
                </a:lnTo>
                <a:lnTo>
                  <a:pt x="0" y="0"/>
                </a:lnTo>
                <a:close/>
              </a:path>
            </a:pathLst>
          </a:custGeom>
          <a:blipFill>
            <a:blip r:embed="rId3"/>
            <a:stretch>
              <a:fillRect/>
            </a:stretch>
          </a:blipFill>
        </p:spPr>
      </p:sp>
      <p:sp>
        <p:nvSpPr>
          <p:cNvPr id="6" name="TextBox 6"/>
          <p:cNvSpPr txBox="1"/>
          <p:nvPr/>
        </p:nvSpPr>
        <p:spPr>
          <a:xfrm>
            <a:off x="839620" y="622207"/>
            <a:ext cx="14444686"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¿CÓMO SE ORGANIZA EL TRABAJO?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¿COMO ?</a:t>
            </a:r>
          </a:p>
        </p:txBody>
      </p:sp>
      <p:sp>
        <p:nvSpPr>
          <p:cNvPr id="3" name="TextBox 3"/>
          <p:cNvSpPr txBox="1"/>
          <p:nvPr/>
        </p:nvSpPr>
        <p:spPr>
          <a:xfrm>
            <a:off x="839620" y="2166385"/>
            <a:ext cx="16419680" cy="71812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Una carpeta tiene muchos archivos (diseño, figjam, presentaciones, sitio web, etc)</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Cada archivo de diseño tiene una o muchas páginas.</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Cada página tiene una o muchas capas (layers).</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Cada capa, tiene uno o muchos elementos que pueden reutilizarse o no.</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Cada elemento, tiene propiedades, por ej, botón:</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Color</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Ancho</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Alto</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Radio</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Espaciado horizontal</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Espaciado verticual</a:t>
            </a:r>
          </a:p>
        </p:txBody>
      </p:sp>
      <p:grpSp>
        <p:nvGrpSpPr>
          <p:cNvPr id="4" name="Group 4"/>
          <p:cNvGrpSpPr/>
          <p:nvPr/>
        </p:nvGrpSpPr>
        <p:grpSpPr>
          <a:xfrm>
            <a:off x="-1072322" y="549188"/>
            <a:ext cx="18612019" cy="1128383"/>
            <a:chOff x="0" y="0"/>
            <a:chExt cx="4901931" cy="297187"/>
          </a:xfrm>
        </p:grpSpPr>
        <p:sp>
          <p:nvSpPr>
            <p:cNvPr id="5" name="Freeform 5"/>
            <p:cNvSpPr/>
            <p:nvPr/>
          </p:nvSpPr>
          <p:spPr>
            <a:xfrm>
              <a:off x="0" y="0"/>
              <a:ext cx="4901931" cy="297187"/>
            </a:xfrm>
            <a:custGeom>
              <a:avLst/>
              <a:gdLst/>
              <a:ahLst/>
              <a:cxnLst/>
              <a:rect l="l" t="t" r="r" b="b"/>
              <a:pathLst>
                <a:path w="4901931" h="297187">
                  <a:moveTo>
                    <a:pt x="41596" y="0"/>
                  </a:moveTo>
                  <a:lnTo>
                    <a:pt x="4860335" y="0"/>
                  </a:lnTo>
                  <a:cubicBezTo>
                    <a:pt x="4871367" y="0"/>
                    <a:pt x="4881947" y="4382"/>
                    <a:pt x="4889748" y="12183"/>
                  </a:cubicBezTo>
                  <a:cubicBezTo>
                    <a:pt x="4897549" y="19984"/>
                    <a:pt x="4901931" y="30564"/>
                    <a:pt x="4901931" y="41596"/>
                  </a:cubicBezTo>
                  <a:lnTo>
                    <a:pt x="4901931" y="255591"/>
                  </a:lnTo>
                  <a:cubicBezTo>
                    <a:pt x="4901931" y="266623"/>
                    <a:pt x="4897549" y="277203"/>
                    <a:pt x="4889748" y="285004"/>
                  </a:cubicBezTo>
                  <a:cubicBezTo>
                    <a:pt x="4881947" y="292805"/>
                    <a:pt x="4871367" y="297187"/>
                    <a:pt x="4860335" y="297187"/>
                  </a:cubicBezTo>
                  <a:lnTo>
                    <a:pt x="41596" y="297187"/>
                  </a:lnTo>
                  <a:cubicBezTo>
                    <a:pt x="30564" y="297187"/>
                    <a:pt x="19984" y="292805"/>
                    <a:pt x="12183" y="285004"/>
                  </a:cubicBezTo>
                  <a:cubicBezTo>
                    <a:pt x="4382" y="277203"/>
                    <a:pt x="0" y="266623"/>
                    <a:pt x="0" y="255591"/>
                  </a:cubicBezTo>
                  <a:lnTo>
                    <a:pt x="0" y="41596"/>
                  </a:lnTo>
                  <a:cubicBezTo>
                    <a:pt x="0" y="30564"/>
                    <a:pt x="4382" y="19984"/>
                    <a:pt x="12183" y="12183"/>
                  </a:cubicBezTo>
                  <a:cubicBezTo>
                    <a:pt x="19984" y="4382"/>
                    <a:pt x="30564" y="0"/>
                    <a:pt x="41596" y="0"/>
                  </a:cubicBezTo>
                  <a:close/>
                </a:path>
              </a:pathLst>
            </a:custGeom>
            <a:solidFill>
              <a:srgbClr val="EAF2FF"/>
            </a:solidFill>
          </p:spPr>
        </p:sp>
        <p:sp>
          <p:nvSpPr>
            <p:cNvPr id="6" name="TextBox 6"/>
            <p:cNvSpPr txBox="1"/>
            <p:nvPr/>
          </p:nvSpPr>
          <p:spPr>
            <a:xfrm>
              <a:off x="0" y="-57150"/>
              <a:ext cx="4901931" cy="354337"/>
            </a:xfrm>
            <a:prstGeom prst="rect">
              <a:avLst/>
            </a:prstGeom>
          </p:spPr>
          <p:txBody>
            <a:bodyPr lIns="50800" tIns="50800" rIns="50800" bIns="50800" rtlCol="0" anchor="ctr"/>
            <a:lstStyle/>
            <a:p>
              <a:pPr algn="ctr">
                <a:lnSpc>
                  <a:spcPts val="3584"/>
                </a:lnSpc>
              </a:pPr>
              <a:endParaRPr/>
            </a:p>
          </p:txBody>
        </p:sp>
      </p:grpSp>
      <p:sp>
        <p:nvSpPr>
          <p:cNvPr id="7" name="TextBox 7"/>
          <p:cNvSpPr txBox="1"/>
          <p:nvPr/>
        </p:nvSpPr>
        <p:spPr>
          <a:xfrm>
            <a:off x="839620" y="622207"/>
            <a:ext cx="14444686"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¿CÓMO SE ORGANIZA EL TRABAJO?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9620" y="622207"/>
            <a:ext cx="10826288"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¿COMO ?</a:t>
            </a:r>
          </a:p>
        </p:txBody>
      </p:sp>
      <p:sp>
        <p:nvSpPr>
          <p:cNvPr id="3" name="TextBox 3"/>
          <p:cNvSpPr txBox="1"/>
          <p:nvPr/>
        </p:nvSpPr>
        <p:spPr>
          <a:xfrm>
            <a:off x="839620" y="2166385"/>
            <a:ext cx="16419680" cy="71812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Crear una nueva carpeta llamada: </a:t>
            </a:r>
            <a:r>
              <a:rPr lang="en-US" sz="3399" b="1">
                <a:solidFill>
                  <a:srgbClr val="6B7280"/>
                </a:solidFill>
                <a:latin typeface="Body Grotesque Fit Bold"/>
                <a:ea typeface="Body Grotesque Fit Bold"/>
                <a:cs typeface="Body Grotesque Fit Bold"/>
                <a:sym typeface="Body Grotesque Fit Bold"/>
              </a:rPr>
              <a:t>Práctica Sistemas II</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Crear un nuevo diseño: Registrar una venta en almacén</a:t>
            </a:r>
          </a:p>
          <a:p>
            <a:pPr marL="734059" lvl="1" indent="-367030" algn="l">
              <a:lnSpc>
                <a:spcPts val="4759"/>
              </a:lnSpc>
              <a:buFont typeface="Arial"/>
              <a:buChar char="•"/>
            </a:pPr>
            <a:r>
              <a:rPr lang="en-US" sz="3399">
                <a:solidFill>
                  <a:srgbClr val="6B7280"/>
                </a:solidFill>
                <a:latin typeface="Body Grotesque Fit"/>
                <a:ea typeface="Body Grotesque Fit"/>
                <a:cs typeface="Body Grotesque Fit"/>
                <a:sym typeface="Body Grotesque Fit"/>
              </a:rPr>
              <a:t>Crear las siguientes pantallas:</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Listar ventas por clientes</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Crear nueva venta</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Elegir cliente</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Agregar uno o varios productos (detalle venta)</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Eliminar productos</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Elegir medio de pago</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Confirmar venta</a:t>
            </a:r>
          </a:p>
          <a:p>
            <a:pPr marL="2202178" lvl="3" indent="-550545" algn="l">
              <a:lnSpc>
                <a:spcPts val="4759"/>
              </a:lnSpc>
              <a:buFont typeface="Arial"/>
              <a:buChar char="￭"/>
            </a:pPr>
            <a:r>
              <a:rPr lang="en-US" sz="3399">
                <a:solidFill>
                  <a:srgbClr val="6B7280"/>
                </a:solidFill>
                <a:latin typeface="Body Grotesque Fit"/>
                <a:ea typeface="Body Grotesque Fit"/>
                <a:cs typeface="Body Grotesque Fit"/>
                <a:sym typeface="Body Grotesque Fit"/>
              </a:rPr>
              <a:t>Cancelar venta</a:t>
            </a:r>
          </a:p>
          <a:p>
            <a:pPr marL="1468119" lvl="2" indent="-489373" algn="l">
              <a:lnSpc>
                <a:spcPts val="4759"/>
              </a:lnSpc>
              <a:buFont typeface="Arial"/>
              <a:buChar char="⚬"/>
            </a:pPr>
            <a:r>
              <a:rPr lang="en-US" sz="3399">
                <a:solidFill>
                  <a:srgbClr val="6B7280"/>
                </a:solidFill>
                <a:latin typeface="Body Grotesque Fit"/>
                <a:ea typeface="Body Grotesque Fit"/>
                <a:cs typeface="Body Grotesque Fit"/>
                <a:sym typeface="Body Grotesque Fit"/>
              </a:rPr>
              <a:t>Pantalla de venta confirmada</a:t>
            </a:r>
          </a:p>
        </p:txBody>
      </p:sp>
      <p:grpSp>
        <p:nvGrpSpPr>
          <p:cNvPr id="4" name="Group 4"/>
          <p:cNvGrpSpPr/>
          <p:nvPr/>
        </p:nvGrpSpPr>
        <p:grpSpPr>
          <a:xfrm>
            <a:off x="-1072322" y="549188"/>
            <a:ext cx="18612019" cy="1128383"/>
            <a:chOff x="0" y="0"/>
            <a:chExt cx="4901931" cy="297187"/>
          </a:xfrm>
        </p:grpSpPr>
        <p:sp>
          <p:nvSpPr>
            <p:cNvPr id="5" name="Freeform 5"/>
            <p:cNvSpPr/>
            <p:nvPr/>
          </p:nvSpPr>
          <p:spPr>
            <a:xfrm>
              <a:off x="0" y="0"/>
              <a:ext cx="4901931" cy="297187"/>
            </a:xfrm>
            <a:custGeom>
              <a:avLst/>
              <a:gdLst/>
              <a:ahLst/>
              <a:cxnLst/>
              <a:rect l="l" t="t" r="r" b="b"/>
              <a:pathLst>
                <a:path w="4901931" h="297187">
                  <a:moveTo>
                    <a:pt x="41596" y="0"/>
                  </a:moveTo>
                  <a:lnTo>
                    <a:pt x="4860335" y="0"/>
                  </a:lnTo>
                  <a:cubicBezTo>
                    <a:pt x="4871367" y="0"/>
                    <a:pt x="4881947" y="4382"/>
                    <a:pt x="4889748" y="12183"/>
                  </a:cubicBezTo>
                  <a:cubicBezTo>
                    <a:pt x="4897549" y="19984"/>
                    <a:pt x="4901931" y="30564"/>
                    <a:pt x="4901931" y="41596"/>
                  </a:cubicBezTo>
                  <a:lnTo>
                    <a:pt x="4901931" y="255591"/>
                  </a:lnTo>
                  <a:cubicBezTo>
                    <a:pt x="4901931" y="266623"/>
                    <a:pt x="4897549" y="277203"/>
                    <a:pt x="4889748" y="285004"/>
                  </a:cubicBezTo>
                  <a:cubicBezTo>
                    <a:pt x="4881947" y="292805"/>
                    <a:pt x="4871367" y="297187"/>
                    <a:pt x="4860335" y="297187"/>
                  </a:cubicBezTo>
                  <a:lnTo>
                    <a:pt x="41596" y="297187"/>
                  </a:lnTo>
                  <a:cubicBezTo>
                    <a:pt x="30564" y="297187"/>
                    <a:pt x="19984" y="292805"/>
                    <a:pt x="12183" y="285004"/>
                  </a:cubicBezTo>
                  <a:cubicBezTo>
                    <a:pt x="4382" y="277203"/>
                    <a:pt x="0" y="266623"/>
                    <a:pt x="0" y="255591"/>
                  </a:cubicBezTo>
                  <a:lnTo>
                    <a:pt x="0" y="41596"/>
                  </a:lnTo>
                  <a:cubicBezTo>
                    <a:pt x="0" y="30564"/>
                    <a:pt x="4382" y="19984"/>
                    <a:pt x="12183" y="12183"/>
                  </a:cubicBezTo>
                  <a:cubicBezTo>
                    <a:pt x="19984" y="4382"/>
                    <a:pt x="30564" y="0"/>
                    <a:pt x="41596" y="0"/>
                  </a:cubicBezTo>
                  <a:close/>
                </a:path>
              </a:pathLst>
            </a:custGeom>
            <a:solidFill>
              <a:srgbClr val="EAF2FF"/>
            </a:solidFill>
          </p:spPr>
        </p:sp>
        <p:sp>
          <p:nvSpPr>
            <p:cNvPr id="6" name="TextBox 6"/>
            <p:cNvSpPr txBox="1"/>
            <p:nvPr/>
          </p:nvSpPr>
          <p:spPr>
            <a:xfrm>
              <a:off x="0" y="-57150"/>
              <a:ext cx="4901931" cy="354337"/>
            </a:xfrm>
            <a:prstGeom prst="rect">
              <a:avLst/>
            </a:prstGeom>
          </p:spPr>
          <p:txBody>
            <a:bodyPr lIns="50800" tIns="50800" rIns="50800" bIns="50800" rtlCol="0" anchor="ctr"/>
            <a:lstStyle/>
            <a:p>
              <a:pPr algn="ctr">
                <a:lnSpc>
                  <a:spcPts val="3584"/>
                </a:lnSpc>
              </a:pPr>
              <a:endParaRPr/>
            </a:p>
          </p:txBody>
        </p:sp>
      </p:grpSp>
      <p:sp>
        <p:nvSpPr>
          <p:cNvPr id="7" name="TextBox 7"/>
          <p:cNvSpPr txBox="1"/>
          <p:nvPr/>
        </p:nvSpPr>
        <p:spPr>
          <a:xfrm>
            <a:off x="839620" y="622207"/>
            <a:ext cx="14444686" cy="887095"/>
          </a:xfrm>
          <a:prstGeom prst="rect">
            <a:avLst/>
          </a:prstGeom>
        </p:spPr>
        <p:txBody>
          <a:bodyPr lIns="0" tIns="0" rIns="0" bIns="0" rtlCol="0" anchor="t">
            <a:spAutoFit/>
          </a:bodyPr>
          <a:lstStyle/>
          <a:p>
            <a:pPr algn="l">
              <a:lnSpc>
                <a:spcPts val="7279"/>
              </a:lnSpc>
            </a:pPr>
            <a:r>
              <a:rPr lang="en-US" sz="5199" b="1" spc="-259">
                <a:solidFill>
                  <a:srgbClr val="6B7280"/>
                </a:solidFill>
                <a:latin typeface="Body Grotesque Fit Bold"/>
                <a:ea typeface="Body Grotesque Fit Bold"/>
                <a:cs typeface="Body Grotesque Fit Bold"/>
                <a:sym typeface="Body Grotesque Fit Bold"/>
              </a:rPr>
              <a:t>FIGMA - A PRACTICAR!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AF2FF"/>
        </a:solidFill>
        <a:effectLst/>
      </p:bgPr>
    </p:bg>
    <p:spTree>
      <p:nvGrpSpPr>
        <p:cNvPr id="1" name=""/>
        <p:cNvGrpSpPr/>
        <p:nvPr/>
      </p:nvGrpSpPr>
      <p:grpSpPr>
        <a:xfrm>
          <a:off x="0" y="0"/>
          <a:ext cx="0" cy="0"/>
          <a:chOff x="0" y="0"/>
          <a:chExt cx="0" cy="0"/>
        </a:xfrm>
      </p:grpSpPr>
      <p:sp>
        <p:nvSpPr>
          <p:cNvPr id="2" name="Freeform 2"/>
          <p:cNvSpPr/>
          <p:nvPr/>
        </p:nvSpPr>
        <p:spPr>
          <a:xfrm flipH="1">
            <a:off x="7624898" y="0"/>
            <a:ext cx="10230889" cy="10287000"/>
          </a:xfrm>
          <a:custGeom>
            <a:avLst/>
            <a:gdLst/>
            <a:ahLst/>
            <a:cxnLst/>
            <a:rect l="l" t="t" r="r" b="b"/>
            <a:pathLst>
              <a:path w="10230889" h="10287000">
                <a:moveTo>
                  <a:pt x="10230889" y="0"/>
                </a:moveTo>
                <a:lnTo>
                  <a:pt x="0" y="0"/>
                </a:lnTo>
                <a:lnTo>
                  <a:pt x="0" y="10287000"/>
                </a:lnTo>
                <a:lnTo>
                  <a:pt x="10230889" y="10287000"/>
                </a:lnTo>
                <a:lnTo>
                  <a:pt x="10230889"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982193" y="7675229"/>
            <a:ext cx="1873594" cy="2094498"/>
          </a:xfrm>
          <a:custGeom>
            <a:avLst/>
            <a:gdLst/>
            <a:ahLst/>
            <a:cxnLst/>
            <a:rect l="l" t="t" r="r" b="b"/>
            <a:pathLst>
              <a:path w="1873594" h="2094498">
                <a:moveTo>
                  <a:pt x="0" y="0"/>
                </a:moveTo>
                <a:lnTo>
                  <a:pt x="1873594" y="0"/>
                </a:lnTo>
                <a:lnTo>
                  <a:pt x="1873594" y="2094498"/>
                </a:lnTo>
                <a:lnTo>
                  <a:pt x="0" y="2094498"/>
                </a:lnTo>
                <a:lnTo>
                  <a:pt x="0" y="0"/>
                </a:lnTo>
                <a:close/>
              </a:path>
            </a:pathLst>
          </a:custGeom>
          <a:blipFill>
            <a:blip r:embed="rId3"/>
            <a:stretch>
              <a:fillRect/>
            </a:stretch>
          </a:blipFill>
        </p:spPr>
      </p:sp>
      <p:sp>
        <p:nvSpPr>
          <p:cNvPr id="4" name="TextBox 4"/>
          <p:cNvSpPr txBox="1"/>
          <p:nvPr/>
        </p:nvSpPr>
        <p:spPr>
          <a:xfrm>
            <a:off x="2303018" y="4027293"/>
            <a:ext cx="13681964" cy="2080013"/>
          </a:xfrm>
          <a:prstGeom prst="rect">
            <a:avLst/>
          </a:prstGeom>
        </p:spPr>
        <p:txBody>
          <a:bodyPr lIns="0" tIns="0" rIns="0" bIns="0" rtlCol="0" anchor="t">
            <a:spAutoFit/>
          </a:bodyPr>
          <a:lstStyle/>
          <a:p>
            <a:pPr algn="ctr">
              <a:lnSpc>
                <a:spcPts val="11647"/>
              </a:lnSpc>
            </a:pPr>
            <a:r>
              <a:rPr lang="en-US" sz="8319" b="1">
                <a:solidFill>
                  <a:srgbClr val="6B7280"/>
                </a:solidFill>
                <a:latin typeface="Body Grotesque Fit Bold"/>
                <a:ea typeface="Body Grotesque Fit Bold"/>
                <a:cs typeface="Body Grotesque Fit Bold"/>
                <a:sym typeface="Body Grotesque Fit Bold"/>
              </a:rPr>
              <a:t>MUCHAS GRACIAS!</a:t>
            </a:r>
          </a:p>
          <a:p>
            <a:pPr algn="ctr">
              <a:lnSpc>
                <a:spcPts val="4759"/>
              </a:lnSpc>
            </a:pPr>
            <a:r>
              <a:rPr lang="en-US" sz="3399" b="1">
                <a:solidFill>
                  <a:srgbClr val="6B7280"/>
                </a:solidFill>
                <a:latin typeface="Body Grotesque Fit Bold"/>
                <a:ea typeface="Body Grotesque Fit Bold"/>
                <a:cs typeface="Body Grotesque Fit Bold"/>
                <a:sym typeface="Body Grotesque Fit Bold"/>
              </a:rPr>
              <a:t>¿PREGUNTAS?</a:t>
            </a:r>
          </a:p>
        </p:txBody>
      </p:sp>
      <p:sp>
        <p:nvSpPr>
          <p:cNvPr id="5" name="TextBox 5"/>
          <p:cNvSpPr txBox="1"/>
          <p:nvPr/>
        </p:nvSpPr>
        <p:spPr>
          <a:xfrm>
            <a:off x="5547657" y="7926578"/>
            <a:ext cx="7192685" cy="795900"/>
          </a:xfrm>
          <a:prstGeom prst="rect">
            <a:avLst/>
          </a:prstGeom>
        </p:spPr>
        <p:txBody>
          <a:bodyPr lIns="0" tIns="0" rIns="0" bIns="0" rtlCol="0" anchor="t">
            <a:spAutoFit/>
          </a:bodyPr>
          <a:lstStyle/>
          <a:p>
            <a:pPr algn="ctr">
              <a:lnSpc>
                <a:spcPts val="6531"/>
              </a:lnSpc>
            </a:pPr>
            <a:r>
              <a:rPr lang="en-US" sz="4665">
                <a:solidFill>
                  <a:srgbClr val="1E3A8A"/>
                </a:solidFill>
                <a:latin typeface="Body Grotesque Fit"/>
                <a:ea typeface="Body Grotesque Fit"/>
                <a:cs typeface="Body Grotesque Fit"/>
                <a:sym typeface="Body Grotesque Fit"/>
              </a:rPr>
              <a:t>UCASAL - Sistemas II</a:t>
            </a:r>
          </a:p>
        </p:txBody>
      </p:sp>
      <p:sp>
        <p:nvSpPr>
          <p:cNvPr id="6" name="TextBox 6"/>
          <p:cNvSpPr txBox="1"/>
          <p:nvPr/>
        </p:nvSpPr>
        <p:spPr>
          <a:xfrm>
            <a:off x="2901144" y="9022910"/>
            <a:ext cx="12665138" cy="423154"/>
          </a:xfrm>
          <a:prstGeom prst="rect">
            <a:avLst/>
          </a:prstGeom>
        </p:spPr>
        <p:txBody>
          <a:bodyPr lIns="0" tIns="0" rIns="0" bIns="0" rtlCol="0" anchor="t">
            <a:spAutoFit/>
          </a:bodyPr>
          <a:lstStyle/>
          <a:p>
            <a:pPr algn="ctr">
              <a:lnSpc>
                <a:spcPts val="3451"/>
              </a:lnSpc>
            </a:pPr>
            <a:r>
              <a:rPr lang="en-US" sz="2465">
                <a:solidFill>
                  <a:srgbClr val="1E3A8A"/>
                </a:solidFill>
                <a:latin typeface="Body Grotesque Fit"/>
                <a:ea typeface="Body Grotesque Fit"/>
                <a:cs typeface="Body Grotesque Fit"/>
                <a:sym typeface="Body Grotesque Fit"/>
              </a:rPr>
              <a:t>Lic. José Peralta, Lic. Patricia Aballay, Ing. Francisco Jarma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1798</Words>
  <Application>Microsoft Office PowerPoint</Application>
  <PresentationFormat>Personalizado</PresentationFormat>
  <Paragraphs>191</Paragraphs>
  <Slides>21</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Calibri</vt:lpstr>
      <vt:lpstr>Body Grotesque Fit Bold</vt:lpstr>
      <vt:lpstr>Body Grotesque Fit</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 Reporte corporativo - Diapositivas modernas, color azul</dc:title>
  <cp:lastModifiedBy>Pilar Alvarado</cp:lastModifiedBy>
  <cp:revision>1</cp:revision>
  <dcterms:created xsi:type="dcterms:W3CDTF">2006-08-16T00:00:00Z</dcterms:created>
  <dcterms:modified xsi:type="dcterms:W3CDTF">2026-10-22T13:30:43Z</dcterms:modified>
  <dc:identifier>DAHWNq5F15Q</dc:identifier>
</cp:coreProperties>
</file>